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6"/>
  </p:notesMasterIdLst>
  <p:sldIdLst>
    <p:sldId id="256" r:id="rId3"/>
    <p:sldId id="257" r:id="rId4"/>
    <p:sldId id="27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20104100" cy="11309350"/>
  <p:notesSz cx="20104100" cy="11309350"/>
  <p:embeddedFontLst>
    <p:embeddedFont>
      <p:font typeface="Montserrat" pitchFamily="2" charset="77"/>
      <p:regular r:id="rId27"/>
      <p:bold r:id="rId28"/>
      <p:italic r:id="rId29"/>
      <p:boldItalic r:id="rId30"/>
    </p:embeddedFont>
    <p:embeddedFont>
      <p:font typeface="Montserrat ExtraBold" panose="00000900000000000000" pitchFamily="2" charset="77"/>
      <p:bold r:id="rId31"/>
      <p:italic r:id="rId32"/>
      <p:boldItalic r:id="rId33"/>
    </p:embeddedFont>
    <p:embeddedFont>
      <p:font typeface="Montserrat Light" panose="00000400000000000000" pitchFamily="2" charset="77"/>
      <p:regular r:id="rId34"/>
      <p:italic r:id="rId35"/>
    </p:embeddedFont>
    <p:embeddedFont>
      <p:font typeface="Oswald Light" panose="00000400000000000000" pitchFamily="2" charset="77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3" d="100"/>
          <a:sy n="73" d="100"/>
        </p:scale>
        <p:origin x="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beiro de Lacerda" userId="dbf77e94-5f9a-4c2d-b76c-023e6aa1600e" providerId="ADAL" clId="{474BCD3E-83F6-5B28-84CB-4A809E37AC63}"/>
    <pc:docChg chg="custSel modSld">
      <pc:chgData name="Lucas Ribeiro de Lacerda" userId="dbf77e94-5f9a-4c2d-b76c-023e6aa1600e" providerId="ADAL" clId="{474BCD3E-83F6-5B28-84CB-4A809E37AC63}" dt="2026-05-22T20:40:30.193" v="55" actId="14100"/>
      <pc:docMkLst>
        <pc:docMk/>
      </pc:docMkLst>
      <pc:sldChg chg="delSp mod">
        <pc:chgData name="Lucas Ribeiro de Lacerda" userId="dbf77e94-5f9a-4c2d-b76c-023e6aa1600e" providerId="ADAL" clId="{474BCD3E-83F6-5B28-84CB-4A809E37AC63}" dt="2026-05-22T20:39:53.372" v="0" actId="478"/>
        <pc:sldMkLst>
          <pc:docMk/>
          <pc:sldMk cId="0" sldId="258"/>
        </pc:sldMkLst>
        <pc:spChg chg="del">
          <ac:chgData name="Lucas Ribeiro de Lacerda" userId="dbf77e94-5f9a-4c2d-b76c-023e6aa1600e" providerId="ADAL" clId="{474BCD3E-83F6-5B28-84CB-4A809E37AC63}" dt="2026-05-22T20:39:53.372" v="0" actId="478"/>
          <ac:spMkLst>
            <pc:docMk/>
            <pc:sldMk cId="0" sldId="258"/>
            <ac:spMk id="276" creationId="{00000000-0000-0000-0000-000000000000}"/>
          </ac:spMkLst>
        </pc:spChg>
      </pc:sldChg>
      <pc:sldChg chg="delSp modSp mod">
        <pc:chgData name="Lucas Ribeiro de Lacerda" userId="dbf77e94-5f9a-4c2d-b76c-023e6aa1600e" providerId="ADAL" clId="{474BCD3E-83F6-5B28-84CB-4A809E37AC63}" dt="2026-05-22T20:40:30.193" v="55" actId="14100"/>
        <pc:sldMkLst>
          <pc:docMk/>
          <pc:sldMk cId="0" sldId="277"/>
        </pc:sldMkLst>
        <pc:spChg chg="mod">
          <ac:chgData name="Lucas Ribeiro de Lacerda" userId="dbf77e94-5f9a-4c2d-b76c-023e6aa1600e" providerId="ADAL" clId="{474BCD3E-83F6-5B28-84CB-4A809E37AC63}" dt="2026-05-22T20:40:30.193" v="55" actId="14100"/>
          <ac:spMkLst>
            <pc:docMk/>
            <pc:sldMk cId="0" sldId="277"/>
            <ac:spMk id="1574" creationId="{00000000-0000-0000-0000-000000000000}"/>
          </ac:spMkLst>
        </pc:spChg>
        <pc:spChg chg="del mod">
          <ac:chgData name="Lucas Ribeiro de Lacerda" userId="dbf77e94-5f9a-4c2d-b76c-023e6aa1600e" providerId="ADAL" clId="{474BCD3E-83F6-5B28-84CB-4A809E37AC63}" dt="2026-05-22T20:40:24.591" v="54" actId="478"/>
          <ac:spMkLst>
            <pc:docMk/>
            <pc:sldMk cId="0" sldId="277"/>
            <ac:spMk id="15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067ab8a03_0_1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5067ab8a0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1ACAB5FA-8D2A-03CE-719E-97BE2365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067ab8a03_0_13:notes">
            <a:extLst>
              <a:ext uri="{FF2B5EF4-FFF2-40B4-BE49-F238E27FC236}">
                <a16:creationId xmlns:a16="http://schemas.microsoft.com/office/drawing/2014/main" id="{195C7728-926C-C101-F200-268D16C6AC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5067ab8a03_0_13:notes">
            <a:extLst>
              <a:ext uri="{FF2B5EF4-FFF2-40B4-BE49-F238E27FC236}">
                <a16:creationId xmlns:a16="http://schemas.microsoft.com/office/drawing/2014/main" id="{CB6A3D65-705D-EFCB-D647-0F25D7C0B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0488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3f6d5f60f_0_120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5" name="Google Shape;205;g353f6d5f60f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06d55eaac_0_44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506d55eaac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06d55eaac_0_71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506d55eaac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506d55eaac_0_83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3506d55eaac_0_8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56e24cda30_0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356e24cda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56e24cda30_0_7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g356e24cda3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56e24cda30_0_148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356e24cda3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6e24cda30_0_22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g356e24cda30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56e24cda30_0_29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g356e24cda30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56e24cda30_0_37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g356e24cda30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56e24cda30_0_44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g356e24cda30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53f6d5f60f_0_127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g353f6d5f60f_0_1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53f6d5f60f_0_1129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2" name="Google Shape;1072;g353f6d5f60f_0_1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56e24cda30_0_74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g356e24cda30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56e24cda30_0_899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g356e24cda30_0_8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56e24cda30_0_82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g356e24cda30_0_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53f6d5f60f_0_131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g353f6d5f60f_0_1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53f6d5f60f_0_139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g353f6d5f60f_0_1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1ef4295c68d_1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g1ef4295c68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57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7" name="Google Shape;156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 extrusionOk="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 extrusionOk="0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 extrusionOk="0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 extrusionOk="0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 extrusionOk="0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 extrusionOk="0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 extrusionOk="0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 extrusionOk="0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 extrusionOk="0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 extrusionOk="0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 extrusionOk="0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 extrusionOk="0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 extrusionOk="0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 extrusionOk="0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 extrusionOk="0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 extrusionOk="0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 extrusionOk="0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1057130"/>
            <a:ext cx="3245974" cy="2722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4303094"/>
            <a:ext cx="3245974" cy="272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7549068"/>
            <a:ext cx="3245974" cy="272243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300" cy="5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 extrusionOk="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 extrusionOk="0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1"/>
          <p:cNvSpPr/>
          <p:nvPr/>
        </p:nvSpPr>
        <p:spPr>
          <a:xfrm>
            <a:off x="1047076" y="9439611"/>
            <a:ext cx="3693160" cy="700404"/>
          </a:xfrm>
          <a:custGeom>
            <a:avLst/>
            <a:gdLst/>
            <a:ahLst/>
            <a:cxnLst/>
            <a:rect l="l" t="t" r="r" b="b"/>
            <a:pathLst>
              <a:path w="3693160" h="700404" extrusionOk="0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 extrusionOk="0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 extrusionOk="0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 extrusionOk="0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 extrusionOk="0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 extrusionOk="0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 extrusionOk="0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 extrusionOk="0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 extrusionOk="0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 extrusionOk="0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 extrusionOk="0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 extrusionOk="0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 extrusionOk="0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 extrusionOk="0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 extrusionOk="0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1057130"/>
            <a:ext cx="3245974" cy="2722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4303094"/>
            <a:ext cx="3245974" cy="2722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14353" y="7549068"/>
            <a:ext cx="3245974" cy="272243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600" cy="23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3000" cy="28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ayout Personalizado">
  <p:cSld name="2_Layout Personalizado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00" y="352900"/>
            <a:ext cx="2088941" cy="55075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 flipH="1">
            <a:off x="1344888" y="905795"/>
            <a:ext cx="75300" cy="1240612"/>
          </a:xfrm>
          <a:custGeom>
            <a:avLst/>
            <a:gdLst/>
            <a:ahLst/>
            <a:cxnLst/>
            <a:rect l="l" t="t" r="r" b="b"/>
            <a:pathLst>
              <a:path w="120000" h="925830" extrusionOk="0">
                <a:moveTo>
                  <a:pt x="0" y="925532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18804170" y="7845517"/>
            <a:ext cx="950315" cy="3108676"/>
            <a:chOff x="11683608" y="5079644"/>
            <a:chExt cx="349496" cy="1143190"/>
          </a:xfrm>
        </p:grpSpPr>
        <p:sp>
          <p:nvSpPr>
            <p:cNvPr id="93" name="Google Shape;93;p13"/>
            <p:cNvSpPr/>
            <p:nvPr/>
          </p:nvSpPr>
          <p:spPr>
            <a:xfrm>
              <a:off x="11683608" y="5079644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11842347" y="5079644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12001086" y="5079644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1683608" y="5238383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11842347" y="5238383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12001086" y="5238383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11683608" y="5397121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11842347" y="5397121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12001086" y="5397121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11683608" y="5555860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11842347" y="5555860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12001086" y="5555860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11683608" y="5714599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11842347" y="5714599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12001086" y="5714599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11683608" y="5873338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1842347" y="5873338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12001086" y="5873338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11683608" y="6032076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11842347" y="6032076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12001086" y="6032076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11683608" y="6190816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1842347" y="6190816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12001086" y="6190816"/>
              <a:ext cx="32018" cy="32018"/>
            </a:xfrm>
            <a:custGeom>
              <a:avLst/>
              <a:gdLst/>
              <a:ahLst/>
              <a:cxnLst/>
              <a:rect l="l" t="t" r="r" b="b"/>
              <a:pathLst>
                <a:path w="52705" h="52704" extrusionOk="0">
                  <a:moveTo>
                    <a:pt x="26177" y="0"/>
                  </a:moveTo>
                  <a:lnTo>
                    <a:pt x="15986" y="2056"/>
                  </a:lnTo>
                  <a:lnTo>
                    <a:pt x="7665" y="7665"/>
                  </a:lnTo>
                  <a:lnTo>
                    <a:pt x="2056" y="15986"/>
                  </a:lnTo>
                  <a:lnTo>
                    <a:pt x="0" y="26177"/>
                  </a:lnTo>
                  <a:lnTo>
                    <a:pt x="2056" y="36367"/>
                  </a:lnTo>
                  <a:lnTo>
                    <a:pt x="7665" y="44688"/>
                  </a:lnTo>
                  <a:lnTo>
                    <a:pt x="15986" y="50297"/>
                  </a:lnTo>
                  <a:lnTo>
                    <a:pt x="26177" y="52354"/>
                  </a:lnTo>
                  <a:lnTo>
                    <a:pt x="36367" y="50297"/>
                  </a:lnTo>
                  <a:lnTo>
                    <a:pt x="44688" y="44688"/>
                  </a:lnTo>
                  <a:lnTo>
                    <a:pt x="50297" y="36367"/>
                  </a:lnTo>
                  <a:lnTo>
                    <a:pt x="52354" y="26177"/>
                  </a:lnTo>
                  <a:lnTo>
                    <a:pt x="50297" y="15986"/>
                  </a:lnTo>
                  <a:lnTo>
                    <a:pt x="44688" y="7665"/>
                  </a:lnTo>
                  <a:lnTo>
                    <a:pt x="36367" y="2056"/>
                  </a:lnTo>
                  <a:lnTo>
                    <a:pt x="26177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100" b="0" i="0" u="none" strike="noStrike" cap="none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2145691" y="1020182"/>
            <a:ext cx="15812700" cy="30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100" b="0" i="0" u="none" strike="noStrike" cap="none">
                <a:solidFill>
                  <a:srgbClr val="33333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8756861" y="2375171"/>
            <a:ext cx="10305300" cy="5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sp.senai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4"/>
          <p:cNvGrpSpPr/>
          <p:nvPr/>
        </p:nvGrpSpPr>
        <p:grpSpPr>
          <a:xfrm>
            <a:off x="0" y="0"/>
            <a:ext cx="20104100" cy="11308971"/>
            <a:chOff x="0" y="0"/>
            <a:chExt cx="20104100" cy="11308971"/>
          </a:xfrm>
        </p:grpSpPr>
        <p:pic>
          <p:nvPicPr>
            <p:cNvPr id="122" name="Google Shape;122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20104099" cy="11308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 extrusionOk="0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6806069" y="5037842"/>
              <a:ext cx="6492240" cy="1230629"/>
            </a:xfrm>
            <a:custGeom>
              <a:avLst/>
              <a:gdLst/>
              <a:ahLst/>
              <a:cxnLst/>
              <a:rect l="l" t="t" r="r" b="b"/>
              <a:pathLst>
                <a:path w="6492240" h="1230629" extrusionOk="0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 extrusionOk="0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 extrusionOk="0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 extrusionOk="0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 extrusionOk="0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 extrusionOk="0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 extrusionOk="0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 extrusionOk="0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 extrusionOk="0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 extrusionOk="0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 extrusionOk="0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 extrusionOk="0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 extrusionOk="0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 extrusionOk="0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 extrusionOk="0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0" y="11151492"/>
              <a:ext cx="20104100" cy="157479"/>
            </a:xfrm>
            <a:custGeom>
              <a:avLst/>
              <a:gdLst/>
              <a:ahLst/>
              <a:cxnLst/>
              <a:rect l="l" t="t" r="r" b="b"/>
              <a:pathLst>
                <a:path w="20104100" h="157479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15467390" y="141075"/>
            <a:ext cx="6189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 Lucas Ribeiro de Lacerda</a:t>
            </a:r>
            <a:endParaRPr sz="2100" b="1" dirty="0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15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98" name="Google Shape;198;p15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5"/>
          <p:cNvSpPr txBox="1">
            <a:spLocks noGrp="1"/>
          </p:cNvSpPr>
          <p:nvPr>
            <p:ph type="title"/>
          </p:nvPr>
        </p:nvSpPr>
        <p:spPr>
          <a:xfrm>
            <a:off x="1359575" y="1312350"/>
            <a:ext cx="12647400" cy="1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7000" b="1" dirty="0">
                <a:latin typeface="Montserrat"/>
                <a:ea typeface="Montserrat"/>
                <a:cs typeface="Montserrat"/>
                <a:sym typeface="Montserrat"/>
              </a:rPr>
              <a:t>UX </a:t>
            </a:r>
            <a:r>
              <a:rPr lang="pt-BR" sz="7000" b="1" dirty="0" err="1">
                <a:latin typeface="Montserrat"/>
                <a:ea typeface="Montserrat"/>
                <a:cs typeface="Montserrat"/>
                <a:sym typeface="Montserrat"/>
              </a:rPr>
              <a:t>vs</a:t>
            </a:r>
            <a:r>
              <a:rPr lang="pt-BR" sz="7000" b="1" dirty="0">
                <a:latin typeface="Montserrat"/>
                <a:ea typeface="Montserrat"/>
                <a:cs typeface="Montserrat"/>
                <a:sym typeface="Montserrat"/>
              </a:rPr>
              <a:t> UI</a:t>
            </a:r>
            <a:endParaRPr sz="7000" dirty="0"/>
          </a:p>
        </p:txBody>
      </p:sp>
      <p:sp>
        <p:nvSpPr>
          <p:cNvPr id="201" name="Google Shape;201;p15"/>
          <p:cNvSpPr txBox="1"/>
          <p:nvPr/>
        </p:nvSpPr>
        <p:spPr>
          <a:xfrm>
            <a:off x="956550" y="2741050"/>
            <a:ext cx="10941000" cy="78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508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É comum confundir UX com UI, mas são coisas diferentes, embora interligadas:</a:t>
            </a:r>
            <a:endParaRPr sz="33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508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300" b="1" u="sng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UX (Experiência):</a:t>
            </a:r>
            <a:r>
              <a:rPr lang="pt-BR" sz="33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É a jornada completa, a sensação geral, a facilidade de uso, a lógica por trás. </a:t>
            </a:r>
            <a:r>
              <a:rPr lang="pt-BR" sz="3300" u="sng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É como o carro funciona, o conforto, a segurança.</a:t>
            </a:r>
            <a:endParaRPr sz="3300" u="sng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508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3300" b="1" u="sng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UI (Interface): </a:t>
            </a:r>
            <a:r>
              <a:rPr lang="pt-BR" sz="33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É a parte visual e tangível com a qual o usuário interage diretamente. São os botões, cores, menus, tipografia.</a:t>
            </a:r>
            <a:r>
              <a:rPr lang="pt-BR" sz="3300" u="sng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É o painel do carro, a cor da pintura, o design dos botões.</a:t>
            </a:r>
            <a:endParaRPr sz="3300" u="sng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2" name="Google Shape;202;p15" title="7856001.jpg"/>
          <p:cNvPicPr preferRelativeResize="0"/>
          <p:nvPr/>
        </p:nvPicPr>
        <p:blipFill rotWithShape="1">
          <a:blip r:embed="rId3">
            <a:alphaModFix/>
          </a:blip>
          <a:srcRect t="3658" b="4192"/>
          <a:stretch/>
        </p:blipFill>
        <p:spPr>
          <a:xfrm>
            <a:off x="11765768" y="3874238"/>
            <a:ext cx="8024207" cy="492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98304C87-55FA-0512-0C30-6441ED24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>
            <a:extLst>
              <a:ext uri="{FF2B5EF4-FFF2-40B4-BE49-F238E27FC236}">
                <a16:creationId xmlns:a16="http://schemas.microsoft.com/office/drawing/2014/main" id="{4783771A-3614-F52B-4B35-88370BE475F6}"/>
              </a:ext>
            </a:extLst>
          </p:cNvPr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>
            <a:extLst>
              <a:ext uri="{FF2B5EF4-FFF2-40B4-BE49-F238E27FC236}">
                <a16:creationId xmlns:a16="http://schemas.microsoft.com/office/drawing/2014/main" id="{9A540EFD-0274-9690-A2F9-F76B6C707CE0}"/>
              </a:ext>
            </a:extLst>
          </p:cNvPr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>
            <a:extLst>
              <a:ext uri="{FF2B5EF4-FFF2-40B4-BE49-F238E27FC236}">
                <a16:creationId xmlns:a16="http://schemas.microsoft.com/office/drawing/2014/main" id="{B4B1CB51-78F0-D5D4-BBF0-5EC3978728A5}"/>
              </a:ext>
            </a:extLst>
          </p:cNvPr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4A0DCEE0-04E9-BEE5-CA46-75BCD5D53CB9}"/>
              </a:ext>
            </a:extLst>
          </p:cNvPr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DA632CA5-1556-ABE4-17E6-561DB9A0CB7C}"/>
              </a:ext>
            </a:extLst>
          </p:cNvPr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>
            <a:extLst>
              <a:ext uri="{FF2B5EF4-FFF2-40B4-BE49-F238E27FC236}">
                <a16:creationId xmlns:a16="http://schemas.microsoft.com/office/drawing/2014/main" id="{7083DFA0-2786-0E82-9152-C5610D9B1B2C}"/>
              </a:ext>
            </a:extLst>
          </p:cNvPr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>
            <a:extLst>
              <a:ext uri="{FF2B5EF4-FFF2-40B4-BE49-F238E27FC236}">
                <a16:creationId xmlns:a16="http://schemas.microsoft.com/office/drawing/2014/main" id="{BE11330B-EE7F-B957-B509-9D134D2007C2}"/>
              </a:ext>
            </a:extLst>
          </p:cNvPr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9C2CB211-8E37-0C31-8E77-FAED535BAF1E}"/>
              </a:ext>
            </a:extLst>
          </p:cNvPr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98A408B1-06D2-3876-BD4C-C721A58FF533}"/>
              </a:ext>
            </a:extLst>
          </p:cNvPr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D2FB0421-1D14-2592-D252-32A8B2554068}"/>
              </a:ext>
            </a:extLst>
          </p:cNvPr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>
            <a:extLst>
              <a:ext uri="{FF2B5EF4-FFF2-40B4-BE49-F238E27FC236}">
                <a16:creationId xmlns:a16="http://schemas.microsoft.com/office/drawing/2014/main" id="{2AD8A284-C920-7B2B-2C02-C28187BA11A8}"/>
              </a:ext>
            </a:extLst>
          </p:cNvPr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>
            <a:extLst>
              <a:ext uri="{FF2B5EF4-FFF2-40B4-BE49-F238E27FC236}">
                <a16:creationId xmlns:a16="http://schemas.microsoft.com/office/drawing/2014/main" id="{E3A0492D-6097-7A2A-9CD6-71D8C4097404}"/>
              </a:ext>
            </a:extLst>
          </p:cNvPr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>
            <a:extLst>
              <a:ext uri="{FF2B5EF4-FFF2-40B4-BE49-F238E27FC236}">
                <a16:creationId xmlns:a16="http://schemas.microsoft.com/office/drawing/2014/main" id="{BC74F5CF-E816-92D9-523B-72BD528F14BA}"/>
              </a:ext>
            </a:extLst>
          </p:cNvPr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>
            <a:extLst>
              <a:ext uri="{FF2B5EF4-FFF2-40B4-BE49-F238E27FC236}">
                <a16:creationId xmlns:a16="http://schemas.microsoft.com/office/drawing/2014/main" id="{F4C0DA79-AAA9-9941-2D94-CBE16BD5CA8D}"/>
              </a:ext>
            </a:extLst>
          </p:cNvPr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>
            <a:extLst>
              <a:ext uri="{FF2B5EF4-FFF2-40B4-BE49-F238E27FC236}">
                <a16:creationId xmlns:a16="http://schemas.microsoft.com/office/drawing/2014/main" id="{7D78D08D-8575-3FBD-B8C7-D8F6B91AE9D0}"/>
              </a:ext>
            </a:extLst>
          </p:cNvPr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>
            <a:extLst>
              <a:ext uri="{FF2B5EF4-FFF2-40B4-BE49-F238E27FC236}">
                <a16:creationId xmlns:a16="http://schemas.microsoft.com/office/drawing/2014/main" id="{F835ACCD-1F28-20E3-EA96-67A7D077E793}"/>
              </a:ext>
            </a:extLst>
          </p:cNvPr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>
            <a:extLst>
              <a:ext uri="{FF2B5EF4-FFF2-40B4-BE49-F238E27FC236}">
                <a16:creationId xmlns:a16="http://schemas.microsoft.com/office/drawing/2014/main" id="{34B922FE-E59D-8B56-8FBE-1BB0472CE234}"/>
              </a:ext>
            </a:extLst>
          </p:cNvPr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>
            <a:extLst>
              <a:ext uri="{FF2B5EF4-FFF2-40B4-BE49-F238E27FC236}">
                <a16:creationId xmlns:a16="http://schemas.microsoft.com/office/drawing/2014/main" id="{B6B063BC-66A4-ADFD-892A-7D1E07D9D8EF}"/>
              </a:ext>
            </a:extLst>
          </p:cNvPr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>
            <a:extLst>
              <a:ext uri="{FF2B5EF4-FFF2-40B4-BE49-F238E27FC236}">
                <a16:creationId xmlns:a16="http://schemas.microsoft.com/office/drawing/2014/main" id="{11C87BF0-87EF-6088-256D-E1309D1FC658}"/>
              </a:ext>
            </a:extLst>
          </p:cNvPr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>
            <a:extLst>
              <a:ext uri="{FF2B5EF4-FFF2-40B4-BE49-F238E27FC236}">
                <a16:creationId xmlns:a16="http://schemas.microsoft.com/office/drawing/2014/main" id="{5446328F-2C14-05A3-0728-B4B0AD828A93}"/>
              </a:ext>
            </a:extLst>
          </p:cNvPr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>
            <a:extLst>
              <a:ext uri="{FF2B5EF4-FFF2-40B4-BE49-F238E27FC236}">
                <a16:creationId xmlns:a16="http://schemas.microsoft.com/office/drawing/2014/main" id="{16845094-77A2-1775-8E34-8B4F4960A296}"/>
              </a:ext>
            </a:extLst>
          </p:cNvPr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A24A8D03-E87C-3A3C-D33D-72F880CADB87}"/>
              </a:ext>
            </a:extLst>
          </p:cNvPr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>
            <a:extLst>
              <a:ext uri="{FF2B5EF4-FFF2-40B4-BE49-F238E27FC236}">
                <a16:creationId xmlns:a16="http://schemas.microsoft.com/office/drawing/2014/main" id="{E8BE5DA6-9379-D918-D29A-A7CB723B2125}"/>
              </a:ext>
            </a:extLst>
          </p:cNvPr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>
            <a:extLst>
              <a:ext uri="{FF2B5EF4-FFF2-40B4-BE49-F238E27FC236}">
                <a16:creationId xmlns:a16="http://schemas.microsoft.com/office/drawing/2014/main" id="{513E3C58-C94E-BCF9-E753-95963B7D50F8}"/>
              </a:ext>
            </a:extLst>
          </p:cNvPr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BCB4A0FF-653E-D6A2-332C-CF6B117D6427}"/>
              </a:ext>
            </a:extLst>
          </p:cNvPr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>
            <a:extLst>
              <a:ext uri="{FF2B5EF4-FFF2-40B4-BE49-F238E27FC236}">
                <a16:creationId xmlns:a16="http://schemas.microsoft.com/office/drawing/2014/main" id="{F98E4D8D-821E-D90A-E092-EDF74484FB64}"/>
              </a:ext>
            </a:extLst>
          </p:cNvPr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>
            <a:extLst>
              <a:ext uri="{FF2B5EF4-FFF2-40B4-BE49-F238E27FC236}">
                <a16:creationId xmlns:a16="http://schemas.microsoft.com/office/drawing/2014/main" id="{F9AA194A-6D32-0B32-9850-23A991596F5B}"/>
              </a:ext>
            </a:extLst>
          </p:cNvPr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>
            <a:extLst>
              <a:ext uri="{FF2B5EF4-FFF2-40B4-BE49-F238E27FC236}">
                <a16:creationId xmlns:a16="http://schemas.microsoft.com/office/drawing/2014/main" id="{F8FDD27A-7FC7-3D7B-BD46-C6A78FF00C33}"/>
              </a:ext>
            </a:extLst>
          </p:cNvPr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>
            <a:extLst>
              <a:ext uri="{FF2B5EF4-FFF2-40B4-BE49-F238E27FC236}">
                <a16:creationId xmlns:a16="http://schemas.microsoft.com/office/drawing/2014/main" id="{73294ED6-343C-0B91-D63A-BD184F922A84}"/>
              </a:ext>
            </a:extLst>
          </p:cNvPr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>
            <a:extLst>
              <a:ext uri="{FF2B5EF4-FFF2-40B4-BE49-F238E27FC236}">
                <a16:creationId xmlns:a16="http://schemas.microsoft.com/office/drawing/2014/main" id="{1ABB704D-B4BF-BD36-54D9-BA1F269A8409}"/>
              </a:ext>
            </a:extLst>
          </p:cNvPr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>
            <a:extLst>
              <a:ext uri="{FF2B5EF4-FFF2-40B4-BE49-F238E27FC236}">
                <a16:creationId xmlns:a16="http://schemas.microsoft.com/office/drawing/2014/main" id="{D09035CE-0135-22F9-D58A-C0B7C64B04E6}"/>
              </a:ext>
            </a:extLst>
          </p:cNvPr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>
            <a:extLst>
              <a:ext uri="{FF2B5EF4-FFF2-40B4-BE49-F238E27FC236}">
                <a16:creationId xmlns:a16="http://schemas.microsoft.com/office/drawing/2014/main" id="{4C60B5C5-363E-58F2-FE6E-279C6CA1BC8E}"/>
              </a:ext>
            </a:extLst>
          </p:cNvPr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>
            <a:extLst>
              <a:ext uri="{FF2B5EF4-FFF2-40B4-BE49-F238E27FC236}">
                <a16:creationId xmlns:a16="http://schemas.microsoft.com/office/drawing/2014/main" id="{36F403D1-7522-84C5-9F1F-29150D4663C3}"/>
              </a:ext>
            </a:extLst>
          </p:cNvPr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>
            <a:extLst>
              <a:ext uri="{FF2B5EF4-FFF2-40B4-BE49-F238E27FC236}">
                <a16:creationId xmlns:a16="http://schemas.microsoft.com/office/drawing/2014/main" id="{89D34018-3539-BFC3-BECC-5CBE5D4E29A1}"/>
              </a:ext>
            </a:extLst>
          </p:cNvPr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>
            <a:extLst>
              <a:ext uri="{FF2B5EF4-FFF2-40B4-BE49-F238E27FC236}">
                <a16:creationId xmlns:a16="http://schemas.microsoft.com/office/drawing/2014/main" id="{E1CBCC97-1250-CAB7-21BF-0F7F86C495E3}"/>
              </a:ext>
            </a:extLst>
          </p:cNvPr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>
            <a:extLst>
              <a:ext uri="{FF2B5EF4-FFF2-40B4-BE49-F238E27FC236}">
                <a16:creationId xmlns:a16="http://schemas.microsoft.com/office/drawing/2014/main" id="{B10E6D1E-5E50-BABA-A672-3C62806572AE}"/>
              </a:ext>
            </a:extLst>
          </p:cNvPr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>
            <a:extLst>
              <a:ext uri="{FF2B5EF4-FFF2-40B4-BE49-F238E27FC236}">
                <a16:creationId xmlns:a16="http://schemas.microsoft.com/office/drawing/2014/main" id="{57684752-0570-64F9-3D9B-2AFE9C4EA0E9}"/>
              </a:ext>
            </a:extLst>
          </p:cNvPr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>
            <a:extLst>
              <a:ext uri="{FF2B5EF4-FFF2-40B4-BE49-F238E27FC236}">
                <a16:creationId xmlns:a16="http://schemas.microsoft.com/office/drawing/2014/main" id="{11205027-7C7E-7948-5D75-2D75AAE4A1AC}"/>
              </a:ext>
            </a:extLst>
          </p:cNvPr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>
            <a:extLst>
              <a:ext uri="{FF2B5EF4-FFF2-40B4-BE49-F238E27FC236}">
                <a16:creationId xmlns:a16="http://schemas.microsoft.com/office/drawing/2014/main" id="{CEA049D5-E2D2-58EB-4278-77CC6E5E12A6}"/>
              </a:ext>
            </a:extLst>
          </p:cNvPr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>
            <a:extLst>
              <a:ext uri="{FF2B5EF4-FFF2-40B4-BE49-F238E27FC236}">
                <a16:creationId xmlns:a16="http://schemas.microsoft.com/office/drawing/2014/main" id="{7CA5952B-B3AB-7A34-04A0-6320A2B2FAD8}"/>
              </a:ext>
            </a:extLst>
          </p:cNvPr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>
            <a:extLst>
              <a:ext uri="{FF2B5EF4-FFF2-40B4-BE49-F238E27FC236}">
                <a16:creationId xmlns:a16="http://schemas.microsoft.com/office/drawing/2014/main" id="{602FD95C-DAA4-4E85-A01B-4EDAA19377A4}"/>
              </a:ext>
            </a:extLst>
          </p:cNvPr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>
            <a:extLst>
              <a:ext uri="{FF2B5EF4-FFF2-40B4-BE49-F238E27FC236}">
                <a16:creationId xmlns:a16="http://schemas.microsoft.com/office/drawing/2014/main" id="{0810BA52-C338-4B45-F8DB-AF7D00CC6172}"/>
              </a:ext>
            </a:extLst>
          </p:cNvPr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>
            <a:extLst>
              <a:ext uri="{FF2B5EF4-FFF2-40B4-BE49-F238E27FC236}">
                <a16:creationId xmlns:a16="http://schemas.microsoft.com/office/drawing/2014/main" id="{91B337A6-D781-F6C7-9A79-4E7C28D232CD}"/>
              </a:ext>
            </a:extLst>
          </p:cNvPr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>
            <a:extLst>
              <a:ext uri="{FF2B5EF4-FFF2-40B4-BE49-F238E27FC236}">
                <a16:creationId xmlns:a16="http://schemas.microsoft.com/office/drawing/2014/main" id="{F014DE88-4534-ED42-E87B-E9D87AC2C260}"/>
              </a:ext>
            </a:extLst>
          </p:cNvPr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>
            <a:extLst>
              <a:ext uri="{FF2B5EF4-FFF2-40B4-BE49-F238E27FC236}">
                <a16:creationId xmlns:a16="http://schemas.microsoft.com/office/drawing/2014/main" id="{9D60CA7A-D9F7-69D3-F4A9-46C25B99DE0B}"/>
              </a:ext>
            </a:extLst>
          </p:cNvPr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>
            <a:extLst>
              <a:ext uri="{FF2B5EF4-FFF2-40B4-BE49-F238E27FC236}">
                <a16:creationId xmlns:a16="http://schemas.microsoft.com/office/drawing/2014/main" id="{96C2EF75-7BCD-28FA-92B9-8F3C4FE8F81D}"/>
              </a:ext>
            </a:extLst>
          </p:cNvPr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>
            <a:extLst>
              <a:ext uri="{FF2B5EF4-FFF2-40B4-BE49-F238E27FC236}">
                <a16:creationId xmlns:a16="http://schemas.microsoft.com/office/drawing/2014/main" id="{1963D165-84D0-DC00-EA90-B2C7D54EC739}"/>
              </a:ext>
            </a:extLst>
          </p:cNvPr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>
            <a:extLst>
              <a:ext uri="{FF2B5EF4-FFF2-40B4-BE49-F238E27FC236}">
                <a16:creationId xmlns:a16="http://schemas.microsoft.com/office/drawing/2014/main" id="{2B11E06E-DB70-1BD9-C50C-C790AB7B78D1}"/>
              </a:ext>
            </a:extLst>
          </p:cNvPr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>
            <a:extLst>
              <a:ext uri="{FF2B5EF4-FFF2-40B4-BE49-F238E27FC236}">
                <a16:creationId xmlns:a16="http://schemas.microsoft.com/office/drawing/2014/main" id="{A04C0D09-1A3C-1C52-FA79-2EF85580C411}"/>
              </a:ext>
            </a:extLst>
          </p:cNvPr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>
            <a:extLst>
              <a:ext uri="{FF2B5EF4-FFF2-40B4-BE49-F238E27FC236}">
                <a16:creationId xmlns:a16="http://schemas.microsoft.com/office/drawing/2014/main" id="{361518AB-85B8-F5C6-8F9A-7E26656A7FA0}"/>
              </a:ext>
            </a:extLst>
          </p:cNvPr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>
            <a:extLst>
              <a:ext uri="{FF2B5EF4-FFF2-40B4-BE49-F238E27FC236}">
                <a16:creationId xmlns:a16="http://schemas.microsoft.com/office/drawing/2014/main" id="{77373D35-0444-FF3B-50D0-7AF7DD919973}"/>
              </a:ext>
            </a:extLst>
          </p:cNvPr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>
            <a:extLst>
              <a:ext uri="{FF2B5EF4-FFF2-40B4-BE49-F238E27FC236}">
                <a16:creationId xmlns:a16="http://schemas.microsoft.com/office/drawing/2014/main" id="{44346063-BCF8-8B0B-7094-79C23DE5F626}"/>
              </a:ext>
            </a:extLst>
          </p:cNvPr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>
            <a:extLst>
              <a:ext uri="{FF2B5EF4-FFF2-40B4-BE49-F238E27FC236}">
                <a16:creationId xmlns:a16="http://schemas.microsoft.com/office/drawing/2014/main" id="{3BB26EA8-6EBE-0424-8B0C-F0C2B02EAFAC}"/>
              </a:ext>
            </a:extLst>
          </p:cNvPr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>
            <a:extLst>
              <a:ext uri="{FF2B5EF4-FFF2-40B4-BE49-F238E27FC236}">
                <a16:creationId xmlns:a16="http://schemas.microsoft.com/office/drawing/2014/main" id="{67D3591B-C3CF-BCD8-119A-14D355FCC172}"/>
              </a:ext>
            </a:extLst>
          </p:cNvPr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>
            <a:extLst>
              <a:ext uri="{FF2B5EF4-FFF2-40B4-BE49-F238E27FC236}">
                <a16:creationId xmlns:a16="http://schemas.microsoft.com/office/drawing/2014/main" id="{B15F9CA7-D75F-7E92-A9E3-7E8C5EF3A9B2}"/>
              </a:ext>
            </a:extLst>
          </p:cNvPr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>
            <a:extLst>
              <a:ext uri="{FF2B5EF4-FFF2-40B4-BE49-F238E27FC236}">
                <a16:creationId xmlns:a16="http://schemas.microsoft.com/office/drawing/2014/main" id="{A2B147BB-E522-9EBF-B361-1208EEDFCC1A}"/>
              </a:ext>
            </a:extLst>
          </p:cNvPr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>
            <a:extLst>
              <a:ext uri="{FF2B5EF4-FFF2-40B4-BE49-F238E27FC236}">
                <a16:creationId xmlns:a16="http://schemas.microsoft.com/office/drawing/2014/main" id="{D62F3FB2-F3B4-D8A7-A11F-FE1A1A918C5B}"/>
              </a:ext>
            </a:extLst>
          </p:cNvPr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>
            <a:extLst>
              <a:ext uri="{FF2B5EF4-FFF2-40B4-BE49-F238E27FC236}">
                <a16:creationId xmlns:a16="http://schemas.microsoft.com/office/drawing/2014/main" id="{7B386AB6-131B-50F6-6692-AC50AE4522E2}"/>
              </a:ext>
            </a:extLst>
          </p:cNvPr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>
            <a:extLst>
              <a:ext uri="{FF2B5EF4-FFF2-40B4-BE49-F238E27FC236}">
                <a16:creationId xmlns:a16="http://schemas.microsoft.com/office/drawing/2014/main" id="{3DB13712-E231-9297-D554-07448533E77F}"/>
              </a:ext>
            </a:extLst>
          </p:cNvPr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>
            <a:extLst>
              <a:ext uri="{FF2B5EF4-FFF2-40B4-BE49-F238E27FC236}">
                <a16:creationId xmlns:a16="http://schemas.microsoft.com/office/drawing/2014/main" id="{06E8C72F-1970-778F-B81A-12CFDC8924F1}"/>
              </a:ext>
            </a:extLst>
          </p:cNvPr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>
            <a:extLst>
              <a:ext uri="{FF2B5EF4-FFF2-40B4-BE49-F238E27FC236}">
                <a16:creationId xmlns:a16="http://schemas.microsoft.com/office/drawing/2014/main" id="{430A0B6A-82FF-3359-CBA4-0D95F46061CC}"/>
              </a:ext>
            </a:extLst>
          </p:cNvPr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>
            <a:extLst>
              <a:ext uri="{FF2B5EF4-FFF2-40B4-BE49-F238E27FC236}">
                <a16:creationId xmlns:a16="http://schemas.microsoft.com/office/drawing/2014/main" id="{FC73F441-1F8A-331E-E4C2-1C3C5584041A}"/>
              </a:ext>
            </a:extLst>
          </p:cNvPr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>
            <a:extLst>
              <a:ext uri="{FF2B5EF4-FFF2-40B4-BE49-F238E27FC236}">
                <a16:creationId xmlns:a16="http://schemas.microsoft.com/office/drawing/2014/main" id="{27524FF4-44DC-0C1E-C358-A603B33C2720}"/>
              </a:ext>
            </a:extLst>
          </p:cNvPr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>
            <a:extLst>
              <a:ext uri="{FF2B5EF4-FFF2-40B4-BE49-F238E27FC236}">
                <a16:creationId xmlns:a16="http://schemas.microsoft.com/office/drawing/2014/main" id="{CD2E9FF8-58F2-06FE-2C36-613EEA4BB9EE}"/>
              </a:ext>
            </a:extLst>
          </p:cNvPr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>
            <a:extLst>
              <a:ext uri="{FF2B5EF4-FFF2-40B4-BE49-F238E27FC236}">
                <a16:creationId xmlns:a16="http://schemas.microsoft.com/office/drawing/2014/main" id="{F8A11C00-A766-BA7B-F41B-3E4A0A623742}"/>
              </a:ext>
            </a:extLst>
          </p:cNvPr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15">
            <a:extLst>
              <a:ext uri="{FF2B5EF4-FFF2-40B4-BE49-F238E27FC236}">
                <a16:creationId xmlns:a16="http://schemas.microsoft.com/office/drawing/2014/main" id="{3372F6B0-6FE4-8E5B-C8C2-53804C51DCF2}"/>
              </a:ext>
            </a:extLst>
          </p:cNvPr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98" name="Google Shape;198;p15">
              <a:extLst>
                <a:ext uri="{FF2B5EF4-FFF2-40B4-BE49-F238E27FC236}">
                  <a16:creationId xmlns:a16="http://schemas.microsoft.com/office/drawing/2014/main" id="{5914B32C-3CC0-8267-19AC-0A3A3675AC51}"/>
                </a:ext>
              </a:extLst>
            </p:cNvPr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5">
              <a:extLst>
                <a:ext uri="{FF2B5EF4-FFF2-40B4-BE49-F238E27FC236}">
                  <a16:creationId xmlns:a16="http://schemas.microsoft.com/office/drawing/2014/main" id="{71AD3C5D-1855-BFD5-EB6B-8B354C3F7684}"/>
                </a:ext>
              </a:extLst>
            </p:cNvPr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DE74144-8299-3095-4D72-BB2A41A25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277" y="6368280"/>
            <a:ext cx="7823886" cy="3736474"/>
          </a:xfrm>
          <a:prstGeom prst="rect">
            <a:avLst/>
          </a:prstGeom>
        </p:spPr>
      </p:pic>
      <p:pic>
        <p:nvPicPr>
          <p:cNvPr id="1046" name="Picture 22" descr="App do Nubank é atualizado com nova organização de abas - MacMagazine">
            <a:extLst>
              <a:ext uri="{FF2B5EF4-FFF2-40B4-BE49-F238E27FC236}">
                <a16:creationId xmlns:a16="http://schemas.microsoft.com/office/drawing/2014/main" id="{5EFDE0B8-0366-9318-44FB-785244D30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77" y="5715622"/>
            <a:ext cx="7293737" cy="4101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O que é iFood e como usar o app de entregas">
            <a:extLst>
              <a:ext uri="{FF2B5EF4-FFF2-40B4-BE49-F238E27FC236}">
                <a16:creationId xmlns:a16="http://schemas.microsoft.com/office/drawing/2014/main" id="{8C630FA3-6EE0-B1C0-F123-033AA6BB9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60" y="893244"/>
            <a:ext cx="7875369" cy="442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Instagram - Download e instalação gratuitos no Windows | Microsoft Store">
            <a:extLst>
              <a:ext uri="{FF2B5EF4-FFF2-40B4-BE49-F238E27FC236}">
                <a16:creationId xmlns:a16="http://schemas.microsoft.com/office/drawing/2014/main" id="{C79B11C9-C80C-6EE0-4CED-E286ABBE4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5000" y="2094626"/>
            <a:ext cx="7294261" cy="410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27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6"/>
          <p:cNvGrpSpPr/>
          <p:nvPr/>
        </p:nvGrpSpPr>
        <p:grpSpPr>
          <a:xfrm>
            <a:off x="15364003" y="9319087"/>
            <a:ext cx="3693222" cy="942975"/>
            <a:chOff x="15364003" y="9319087"/>
            <a:chExt cx="3693222" cy="942975"/>
          </a:xfrm>
        </p:grpSpPr>
        <p:sp>
          <p:nvSpPr>
            <p:cNvPr id="208" name="Google Shape;208;p16"/>
            <p:cNvSpPr/>
            <p:nvPr/>
          </p:nvSpPr>
          <p:spPr>
            <a:xfrm>
              <a:off x="15364066" y="9319087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15364003" y="9439611"/>
              <a:ext cx="3693159" cy="700404"/>
            </a:xfrm>
            <a:custGeom>
              <a:avLst/>
              <a:gdLst/>
              <a:ahLst/>
              <a:cxnLst/>
              <a:rect l="l" t="t" r="r" b="b"/>
              <a:pathLst>
                <a:path w="3693159" h="700404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 extrusionOk="0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 extrusionOk="0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 extrusionOk="0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 extrusionOk="0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 extrusionOk="0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 extrusionOk="0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 extrusionOk="0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 extrusionOk="0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6"/>
          <p:cNvSpPr/>
          <p:nvPr/>
        </p:nvSpPr>
        <p:spPr>
          <a:xfrm>
            <a:off x="17957569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18219340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18481112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18742885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19004657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19266428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19528201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19789973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17957569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18219340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18481112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8742885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19004657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9266428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19528201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19789973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 txBox="1">
            <a:spLocks noGrp="1"/>
          </p:cNvSpPr>
          <p:nvPr>
            <p:ph type="title"/>
          </p:nvPr>
        </p:nvSpPr>
        <p:spPr>
          <a:xfrm>
            <a:off x="1542250" y="3269350"/>
            <a:ext cx="14496300" cy="3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9750" b="1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84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6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INÍCIO DO DESENVOLVIMENTO DE UM</a:t>
            </a:r>
            <a:r>
              <a:rPr lang="pt-BR" sz="6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PROJETO DE UX/UI</a:t>
            </a:r>
            <a:endParaRPr sz="6400" b="1" u="sng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348" name="Google Shape;348;p17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17"/>
          <p:cNvSpPr txBox="1">
            <a:spLocks noGrp="1"/>
          </p:cNvSpPr>
          <p:nvPr>
            <p:ph type="title"/>
          </p:nvPr>
        </p:nvSpPr>
        <p:spPr>
          <a:xfrm>
            <a:off x="1359575" y="1312350"/>
            <a:ext cx="12647400" cy="1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7000"/>
              <a:t>O QUE É UM </a:t>
            </a:r>
            <a:r>
              <a:rPr lang="pt-BR" sz="7000" b="1">
                <a:latin typeface="Montserrat"/>
                <a:ea typeface="Montserrat"/>
                <a:cs typeface="Montserrat"/>
                <a:sym typeface="Montserrat"/>
              </a:rPr>
              <a:t>BRIEFING?</a:t>
            </a:r>
            <a:endParaRPr sz="7000"/>
          </a:p>
        </p:txBody>
      </p:sp>
      <p:sp>
        <p:nvSpPr>
          <p:cNvPr id="351" name="Google Shape;351;p17"/>
          <p:cNvSpPr txBox="1"/>
          <p:nvPr/>
        </p:nvSpPr>
        <p:spPr>
          <a:xfrm>
            <a:off x="1151875" y="3464825"/>
            <a:ext cx="9710400" cy="56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508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4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Um </a:t>
            </a:r>
            <a:r>
              <a:rPr lang="pt-BR" sz="4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r>
              <a:rPr lang="pt-BR" sz="4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é um documento ou conjunto de informações que serve como </a:t>
            </a:r>
            <a:r>
              <a:rPr lang="pt-BR" sz="4200" b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guia para um projeto</a:t>
            </a:r>
            <a:r>
              <a:rPr lang="pt-BR" sz="42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. Ele serve como o ponto inicial para que qualquer projeto se desenvolva de forma clara e concisa.</a:t>
            </a:r>
            <a:endParaRPr sz="4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2" name="Google Shape;352;p17" descr="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52500" y="3162700"/>
            <a:ext cx="6652150" cy="665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" name="Google Shape;423;p18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424" name="Google Shape;424;p18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8"/>
          <p:cNvSpPr txBox="1">
            <a:spLocks noGrp="1"/>
          </p:cNvSpPr>
          <p:nvPr>
            <p:ph type="title"/>
          </p:nvPr>
        </p:nvSpPr>
        <p:spPr>
          <a:xfrm>
            <a:off x="1285725" y="1258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PARA QUE SERVE O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r>
              <a:rPr lang="pt-BR" sz="6700"/>
              <a:t>?</a:t>
            </a:r>
            <a:endParaRPr sz="6700"/>
          </a:p>
        </p:txBody>
      </p:sp>
      <p:sp>
        <p:nvSpPr>
          <p:cNvPr id="427" name="Google Shape;427;p18"/>
          <p:cNvSpPr txBox="1"/>
          <p:nvPr/>
        </p:nvSpPr>
        <p:spPr>
          <a:xfrm>
            <a:off x="1151875" y="3464825"/>
            <a:ext cx="9710400" cy="5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699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pt-BR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Alinhar as expectativas 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que haja o entendimento do projeto.</a:t>
            </a:r>
            <a:endParaRPr sz="3300">
              <a:solidFill>
                <a:schemeClr val="dk1"/>
              </a:solidFill>
            </a:endParaRPr>
          </a:p>
          <a:p>
            <a:pPr marL="469900" lvl="0" indent="-533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pt-BR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Coletar dados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auxiliar no desenvolvimento do projeto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69900" lvl="0" indent="-533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Garantir que o projeto </a:t>
            </a:r>
            <a:r>
              <a:rPr lang="pt-BR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siga um escopo 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 não desvie do caminho.</a:t>
            </a:r>
            <a:endParaRPr sz="52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8" name="Google Shape;428;p18" descr="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1889" y="3738025"/>
            <a:ext cx="5406694" cy="5406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9" name="Google Shape;499;p19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500" name="Google Shape;500;p19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19"/>
          <p:cNvSpPr txBox="1">
            <a:spLocks noGrp="1"/>
          </p:cNvSpPr>
          <p:nvPr>
            <p:ph type="title"/>
          </p:nvPr>
        </p:nvSpPr>
        <p:spPr>
          <a:xfrm>
            <a:off x="1207575" y="1258488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  <p:sp>
        <p:nvSpPr>
          <p:cNvPr id="503" name="Google Shape;503;p19"/>
          <p:cNvSpPr txBox="1"/>
          <p:nvPr/>
        </p:nvSpPr>
        <p:spPr>
          <a:xfrm>
            <a:off x="899300" y="3131200"/>
            <a:ext cx="17111100" cy="6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7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Briefing de Pesquisa UX: Validação e Exploração para App "TrocaKids"</a:t>
            </a:r>
            <a:endParaRPr sz="37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1. Contexto/Ideia do Produto:</a:t>
            </a:r>
            <a:endParaRPr sz="32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Conceito para um novo aplicativo mobile ("TrocaKids") que visa facilitar a troca e doação de itens infantis usados (roupas, brinquedos, carrinhos, berços, etc.) entre pais dentro de uma comunidade local (bairro, cidade).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Helvetica Neue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Foco da pesquisa: Fase inicial de </a:t>
            </a:r>
            <a:r>
              <a:rPr lang="pt-BR" sz="30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validação da ideia e exploração do problema/necessidade</a:t>
            </a: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antes de iniciar o design ou desenvolvimento.</a:t>
            </a:r>
            <a:endParaRPr sz="50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4" name="Google Shape;574;p20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575" name="Google Shape;575;p20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7" name="Google Shape;577;p20"/>
          <p:cNvSpPr txBox="1">
            <a:spLocks noGrp="1"/>
          </p:cNvSpPr>
          <p:nvPr>
            <p:ph type="title"/>
          </p:nvPr>
        </p:nvSpPr>
        <p:spPr>
          <a:xfrm>
            <a:off x="1285725" y="1258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  <p:sp>
        <p:nvSpPr>
          <p:cNvPr id="578" name="Google Shape;578;p20"/>
          <p:cNvSpPr txBox="1"/>
          <p:nvPr/>
        </p:nvSpPr>
        <p:spPr>
          <a:xfrm>
            <a:off x="899350" y="2862550"/>
            <a:ext cx="18305400" cy="77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2. Background/Problema Hipotético:</a:t>
            </a:r>
            <a:endParaRPr sz="320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C1E"/>
              </a:buClr>
              <a:buSzPts val="3000"/>
              <a:buFont typeface="Montserrat"/>
              <a:buChar char="●"/>
            </a:pPr>
            <a:r>
              <a:rPr lang="pt-BR" sz="30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Crianças crescem rápido, gerando um acúmulo constante de itens em bom estado que se tornam pequenos ou não são mais usados.</a:t>
            </a:r>
            <a:endParaRPr sz="30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00"/>
              <a:buFont typeface="Montserrat"/>
              <a:buChar char="●"/>
            </a:pPr>
            <a:r>
              <a:rPr lang="pt-BR" sz="30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Pais buscam maneiras econômicas e sustentáveis de adquirir e se desfazer desses itens.</a:t>
            </a:r>
            <a:endParaRPr sz="30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00"/>
              <a:buFont typeface="Montserrat"/>
              <a:buChar char="●"/>
            </a:pPr>
            <a:r>
              <a:rPr lang="pt-BR" sz="30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Métodos atuais (grupos de WhatsApp/Facebook, bazares presenciais, venda em plataformas genéricas) podem ser trabalhosos, inseguros, desorganizados ou ter alcance limitado.</a:t>
            </a:r>
            <a:endParaRPr sz="30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00"/>
              <a:buFont typeface="Montserrat"/>
              <a:buChar char="●"/>
            </a:pPr>
            <a:r>
              <a:rPr lang="pt-BR" sz="300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Hipóteses:</a:t>
            </a:r>
            <a:endParaRPr sz="300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00"/>
              <a:buFont typeface="Montserrat"/>
              <a:buChar char="○"/>
            </a:pPr>
            <a:r>
              <a:rPr lang="pt-BR" sz="30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Existe uma demanda reprimida por uma plataforma dedicada, segura e fácil para troca/doação local de itens infantis.</a:t>
            </a:r>
            <a:endParaRPr sz="30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00"/>
              <a:buFont typeface="Montserrat"/>
              <a:buChar char="○"/>
            </a:pPr>
            <a:r>
              <a:rPr lang="pt-BR" sz="30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Pais valorizam a conveniência, segurança e senso de comunidade nesse tipo de troca.</a:t>
            </a:r>
            <a:endParaRPr sz="30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00"/>
              <a:buFont typeface="Montserrat"/>
              <a:buChar char="○"/>
            </a:pPr>
            <a:r>
              <a:rPr lang="pt-BR" sz="30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 gestão de múltiplos grupos ou a logística de bazares são pontos de dor significativos.</a:t>
            </a:r>
            <a:endParaRPr sz="300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1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1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1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1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1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1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1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1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9" name="Google Shape;649;p21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650" name="Google Shape;650;p21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2" name="Google Shape;652;p21"/>
          <p:cNvSpPr txBox="1"/>
          <p:nvPr/>
        </p:nvSpPr>
        <p:spPr>
          <a:xfrm>
            <a:off x="899350" y="2803950"/>
            <a:ext cx="18305400" cy="80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0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3. Objetivos Principais da </a:t>
            </a:r>
            <a:r>
              <a:rPr lang="pt-BR" sz="3050" b="1" u="sng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Pesquisa:</a:t>
            </a:r>
            <a:endParaRPr sz="3050" b="1" u="sng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9575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●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Validar a necessidade: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Existe um problema real e significativo que o app "TrocaKids" poderia resolver para os pais?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9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●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Entender o comportamento atual: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Como os pais atualmente adquirem e se desfazem de itens infantis usados? Quais ferramentas/métodos utilizam?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9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●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Identificar Dores e Necessidades: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Quais são as maiores frustrações e dificuldades no processo atual (encontrar itens, anunciar, negociar, combinar entrega/retirada, segurança)?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9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●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Explorar Expectativas: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O que os pais esperariam de um aplicativo dedicado a isso? Quais funcionalidades seriam mais valiosas (busca por item/tamanho, geolocalização, sistema de reputação, chat seguro, etc.)?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95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●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Definir o Público-Alvo Primário: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Quem são os pais mais propensos a usar e se beneficiar de tal aplicativo (perfil demográfico, comportamental, tecnológico)?</a:t>
            </a:r>
            <a:endParaRPr sz="48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21"/>
          <p:cNvSpPr txBox="1">
            <a:spLocks noGrp="1"/>
          </p:cNvSpPr>
          <p:nvPr>
            <p:ph type="title"/>
          </p:nvPr>
        </p:nvSpPr>
        <p:spPr>
          <a:xfrm>
            <a:off x="1266200" y="1258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2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2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2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2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2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2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2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2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2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2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2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2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2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2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2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2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2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2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4" name="Google Shape;724;p22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725" name="Google Shape;725;p22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22"/>
          <p:cNvSpPr txBox="1"/>
          <p:nvPr/>
        </p:nvSpPr>
        <p:spPr>
          <a:xfrm>
            <a:off x="899350" y="2862550"/>
            <a:ext cx="17110800" cy="73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30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4. Público-Alvo Hipotético (a ser validado/refinado):</a:t>
            </a:r>
            <a:endParaRPr sz="330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C1E"/>
              </a:buClr>
              <a:buSzPts val="3100"/>
              <a:buFont typeface="Montserrat"/>
              <a:buChar char="●"/>
            </a:pPr>
            <a:r>
              <a:rPr lang="pt-BR" sz="31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Pais e mães com filhos entre 0-10 anos (faixa onde a rotatividade de itens é maior).</a:t>
            </a:r>
            <a:endParaRPr sz="31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100"/>
              <a:buFont typeface="Montserrat"/>
              <a:buChar char="●"/>
            </a:pPr>
            <a:r>
              <a:rPr lang="pt-BR" sz="31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Residentes em áreas urbanas ou suburbanas (onde a densidade populacional facilita trocas locais).</a:t>
            </a:r>
            <a:endParaRPr sz="31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100"/>
              <a:buFont typeface="Montserrat"/>
              <a:buChar char="●"/>
            </a:pPr>
            <a:r>
              <a:rPr lang="pt-BR" sz="31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Usuários de smartphones, com algum nível de conforto em usar aplicativos e redes sociais.</a:t>
            </a:r>
            <a:endParaRPr sz="31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100"/>
              <a:buFont typeface="Montserrat"/>
              <a:buChar char="●"/>
            </a:pPr>
            <a:r>
              <a:rPr lang="pt-BR" sz="31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Com interesse em economia, sustentabilidade e/ou interação com a comunidade local.</a:t>
            </a:r>
            <a:endParaRPr sz="310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100"/>
              <a:buFont typeface="Montserrat"/>
              <a:buChar char="●"/>
            </a:pPr>
            <a:r>
              <a:rPr lang="pt-BR" sz="310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Incluir tanto pais que buscam itens quanto pais que têm itens para doar/trocar. (Aprox. 10-15 participantes para entrevistas aprofundadas).</a:t>
            </a:r>
            <a:endParaRPr sz="310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22"/>
          <p:cNvSpPr txBox="1">
            <a:spLocks noGrp="1"/>
          </p:cNvSpPr>
          <p:nvPr>
            <p:ph type="title"/>
          </p:nvPr>
        </p:nvSpPr>
        <p:spPr>
          <a:xfrm>
            <a:off x="1266200" y="1258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3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3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3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3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3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3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3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3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3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3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3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3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3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3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3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3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3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3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3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3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3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3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9" name="Google Shape;799;p23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800" name="Google Shape;800;p23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2" name="Google Shape;802;p23"/>
          <p:cNvSpPr txBox="1"/>
          <p:nvPr/>
        </p:nvSpPr>
        <p:spPr>
          <a:xfrm>
            <a:off x="899350" y="2862550"/>
            <a:ext cx="17896200" cy="72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5. Metodologia Sugerida:</a:t>
            </a:r>
            <a:endParaRPr sz="32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Helvetica Neue"/>
              <a:buChar char="●"/>
            </a:pPr>
            <a:r>
              <a:rPr lang="pt-BR" sz="30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Entrevistas Qualitativas Aprofundadas (Remotas ou Presenciais):</a:t>
            </a: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Conversar com pais do público-alvo para explorar seus hábitos, necessidades, dores e reações iniciais à ideia do aplicativo.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Helvetica Neue"/>
              <a:buChar char="●"/>
            </a:pPr>
            <a:r>
              <a:rPr lang="pt-BR" sz="30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Análise de Concorrentes/Alternativas:</a:t>
            </a: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Mapear como funcionam grupos de redes sociais, apps de venda genéricos (OLX, Enjoei), bazares infantis, etc., identificando pontos fortes e fracos.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Helvetica Neue"/>
              <a:buChar char="●"/>
            </a:pPr>
            <a:r>
              <a:rPr lang="pt-BR" sz="30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(Opcional) Pesquisa Quantitativa (Survey) curta:</a:t>
            </a: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Após as entrevistas, validar algumas hipóteses em maior escala (ex: frequência de troca, métodos preferidos, interesse geral na ideia).</a:t>
            </a:r>
            <a:endParaRPr sz="50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23"/>
          <p:cNvSpPr txBox="1">
            <a:spLocks noGrp="1"/>
          </p:cNvSpPr>
          <p:nvPr>
            <p:ph type="title"/>
          </p:nvPr>
        </p:nvSpPr>
        <p:spPr>
          <a:xfrm>
            <a:off x="1246675" y="1340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4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4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4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4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4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4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4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4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4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4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4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4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4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4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4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4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4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4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4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4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4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4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4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4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4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4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4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4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4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4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4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4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4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4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4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4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4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4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4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4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4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4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4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4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4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4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4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4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4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4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4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4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4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4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4" name="Google Shape;874;p24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875" name="Google Shape;875;p24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7" name="Google Shape;877;p24"/>
          <p:cNvSpPr txBox="1"/>
          <p:nvPr/>
        </p:nvSpPr>
        <p:spPr>
          <a:xfrm>
            <a:off x="899350" y="2862550"/>
            <a:ext cx="18305400" cy="79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6. Perguntas Chave a Responder:</a:t>
            </a:r>
            <a:endParaRPr sz="32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Com que frequência você precisa se desfazer ou adquirir itens infantis usados?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Como você faz isso hoje? Quais plataformas/métodos usa? O que gosta e não gosta neles?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Quais são suas maiores dificuldades ao tentar trocar, doar ou vender esses itens? E ao tentar encontrar/adquirir?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Quais preocupações você tem ao lidar com esses itens (higiene, segurança na negociação/entrega)?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Como você se sentiria usando um app focado nisso? O que seria indispensável nesse app? O que seria legal ter?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Quais informações sobre um item/outro usuário são mais importantes para você?</a:t>
            </a:r>
            <a:endParaRPr sz="30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050"/>
              <a:buFont typeface="Montserrat"/>
              <a:buChar char="●"/>
            </a:pPr>
            <a:r>
              <a:rPr lang="pt-BR" sz="30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Você prefere trocar, doar ou vender/comprar? Ou uma combinação.</a:t>
            </a:r>
            <a:endParaRPr sz="50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8" name="Google Shape;878;p24"/>
          <p:cNvSpPr txBox="1">
            <a:spLocks noGrp="1"/>
          </p:cNvSpPr>
          <p:nvPr>
            <p:ph type="title"/>
          </p:nvPr>
        </p:nvSpPr>
        <p:spPr>
          <a:xfrm>
            <a:off x="1227150" y="1258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5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5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5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5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5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5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5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5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5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5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5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5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5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5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5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5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5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5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5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5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5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5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5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5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5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5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5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5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5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5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5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5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5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5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5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5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5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5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5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5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5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5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5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5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5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5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5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5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5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5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5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5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5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5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5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5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5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5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5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5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5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5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5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5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5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9" name="Google Shape;949;p25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950" name="Google Shape;950;p25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5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2" name="Google Shape;952;p25"/>
          <p:cNvSpPr txBox="1"/>
          <p:nvPr/>
        </p:nvSpPr>
        <p:spPr>
          <a:xfrm>
            <a:off x="899350" y="2862550"/>
            <a:ext cx="18305400" cy="76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7. Entregáveis Esperados:</a:t>
            </a:r>
            <a:endParaRPr sz="28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09575" algn="l" rtl="0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Montserrat"/>
              <a:buChar char="●"/>
            </a:pP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Relatório de Pesquisa Exploratória, contendo: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95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○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Validação (ou Invalidação) da Hipótese do Problema: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Evidências claras sobre a existência e a dimensão da necessidade.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95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○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Personas Preliminares: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Perfis detalhados dos principais tipos de usuários potenciais.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95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○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Mapeamento da Jornada Atual: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Descrição do processo atual de troca/doação, com pontos de dor destacados.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95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○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Lista de Necessidades e Dores Priorizadas: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Principais problemas que o app deveria resolver.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95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○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Insights sobre Funcionalidades Desejadas: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Lista de recursos mencionados como importantes ou essenciais pelos participantes.</a:t>
            </a:r>
            <a:endParaRPr sz="28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4095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2850"/>
              <a:buFont typeface="Helvetica Neue"/>
              <a:buChar char="○"/>
            </a:pPr>
            <a:r>
              <a:rPr lang="pt-BR" sz="28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Recomendações Estratégicas:</a:t>
            </a:r>
            <a:r>
              <a:rPr lang="pt-BR" sz="28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Sugestões sobre o foco inicial do app, público prioritário e proposta de valor central.</a:t>
            </a:r>
            <a:endParaRPr sz="48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25"/>
          <p:cNvSpPr txBox="1">
            <a:spLocks noGrp="1"/>
          </p:cNvSpPr>
          <p:nvPr>
            <p:ph type="title"/>
          </p:nvPr>
        </p:nvSpPr>
        <p:spPr>
          <a:xfrm>
            <a:off x="1266200" y="1258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6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6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6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6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6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6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6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6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6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6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6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6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6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6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6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6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6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6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6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6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6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6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6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6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6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6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6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6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6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6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6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6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6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6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6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6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6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6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6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6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6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6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6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6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6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6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6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6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6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6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6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6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6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6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6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6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6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6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6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6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6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6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6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6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4" name="Google Shape;1024;p26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025" name="Google Shape;1025;p26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26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7" name="Google Shape;1027;p26"/>
          <p:cNvSpPr txBox="1"/>
          <p:nvPr/>
        </p:nvSpPr>
        <p:spPr>
          <a:xfrm>
            <a:off x="899450" y="3376600"/>
            <a:ext cx="16587300" cy="51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pt-BR" sz="34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8. Impacto Esperado:</a:t>
            </a:r>
            <a:endParaRPr sz="3450" b="1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34975" algn="l" rtl="0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3250"/>
              <a:buFont typeface="Helvetica Neue"/>
              <a:buChar char="●"/>
            </a:pPr>
            <a:r>
              <a:rPr lang="pt-BR" sz="32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Informar a Decisão de Go/No-Go:</a:t>
            </a:r>
            <a:r>
              <a:rPr lang="pt-BR" sz="32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Ajudar a decidir se vale a pena investir no desenvolvimento do app.</a:t>
            </a:r>
            <a:endParaRPr sz="32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349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250"/>
              <a:buFont typeface="Helvetica Neue"/>
              <a:buChar char="●"/>
            </a:pPr>
            <a:r>
              <a:rPr lang="pt-BR" sz="32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Direcionar o Design UX/UI Inicial:</a:t>
            </a:r>
            <a:r>
              <a:rPr lang="pt-BR" sz="32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Fornecer a base para criar fluxos, arquitetura de informação e interfaces que realmente atendam ao público.</a:t>
            </a:r>
            <a:endParaRPr sz="3250">
              <a:solidFill>
                <a:srgbClr val="1A1C1E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34975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3250"/>
              <a:buFont typeface="Helvetica Neue"/>
              <a:buChar char="●"/>
            </a:pPr>
            <a:r>
              <a:rPr lang="pt-BR" sz="3250" b="1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Reduzir o Risco:</a:t>
            </a:r>
            <a:r>
              <a:rPr lang="pt-BR" sz="3250">
                <a:solidFill>
                  <a:srgbClr val="1A1C1E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Minimizar a chance de construir um produto que ninguém quer ou precisa usar.</a:t>
            </a:r>
            <a:endParaRPr sz="4350" b="1">
              <a:solidFill>
                <a:srgbClr val="1A1C1E"/>
              </a:solidFill>
              <a:highlight>
                <a:srgbClr val="FFFFFF"/>
              </a:highlight>
            </a:endParaRPr>
          </a:p>
        </p:txBody>
      </p:sp>
      <p:sp>
        <p:nvSpPr>
          <p:cNvPr id="1028" name="Google Shape;1028;p26"/>
          <p:cNvSpPr txBox="1">
            <a:spLocks noGrp="1"/>
          </p:cNvSpPr>
          <p:nvPr>
            <p:ph type="title"/>
          </p:nvPr>
        </p:nvSpPr>
        <p:spPr>
          <a:xfrm>
            <a:off x="1266200" y="1258500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/>
              <a:t>EXEMPLO DE </a:t>
            </a:r>
            <a:r>
              <a:rPr lang="pt-BR" sz="6700" b="1">
                <a:latin typeface="Montserrat"/>
                <a:ea typeface="Montserrat"/>
                <a:cs typeface="Montserrat"/>
                <a:sym typeface="Montserrat"/>
              </a:rPr>
              <a:t>BRIEFING</a:t>
            </a:r>
            <a:endParaRPr sz="6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7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7"/>
          <p:cNvSpPr/>
          <p:nvPr/>
        </p:nvSpPr>
        <p:spPr>
          <a:xfrm>
            <a:off x="14868656" y="0"/>
            <a:ext cx="5235575" cy="5235575"/>
          </a:xfrm>
          <a:custGeom>
            <a:avLst/>
            <a:gdLst/>
            <a:ahLst/>
            <a:cxnLst/>
            <a:rect l="l" t="t" r="r" b="b"/>
            <a:pathLst>
              <a:path w="5235575" h="5235575" extrusionOk="0">
                <a:moveTo>
                  <a:pt x="5235442" y="0"/>
                </a:moveTo>
                <a:lnTo>
                  <a:pt x="0" y="0"/>
                </a:lnTo>
                <a:lnTo>
                  <a:pt x="0" y="5235442"/>
                </a:lnTo>
                <a:lnTo>
                  <a:pt x="5235442" y="5235442"/>
                </a:lnTo>
                <a:lnTo>
                  <a:pt x="5235442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7"/>
          <p:cNvSpPr/>
          <p:nvPr/>
        </p:nvSpPr>
        <p:spPr>
          <a:xfrm>
            <a:off x="19266428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7"/>
          <p:cNvSpPr/>
          <p:nvPr/>
        </p:nvSpPr>
        <p:spPr>
          <a:xfrm>
            <a:off x="19528201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7"/>
          <p:cNvSpPr/>
          <p:nvPr/>
        </p:nvSpPr>
        <p:spPr>
          <a:xfrm>
            <a:off x="19789973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7"/>
          <p:cNvSpPr/>
          <p:nvPr/>
        </p:nvSpPr>
        <p:spPr>
          <a:xfrm>
            <a:off x="19266428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7"/>
          <p:cNvSpPr/>
          <p:nvPr/>
        </p:nvSpPr>
        <p:spPr>
          <a:xfrm>
            <a:off x="19528201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7"/>
          <p:cNvSpPr/>
          <p:nvPr/>
        </p:nvSpPr>
        <p:spPr>
          <a:xfrm>
            <a:off x="19789973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7"/>
          <p:cNvSpPr/>
          <p:nvPr/>
        </p:nvSpPr>
        <p:spPr>
          <a:xfrm>
            <a:off x="19266428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27"/>
          <p:cNvSpPr/>
          <p:nvPr/>
        </p:nvSpPr>
        <p:spPr>
          <a:xfrm>
            <a:off x="19528201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7"/>
          <p:cNvSpPr/>
          <p:nvPr/>
        </p:nvSpPr>
        <p:spPr>
          <a:xfrm>
            <a:off x="19789973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7"/>
          <p:cNvSpPr/>
          <p:nvPr/>
        </p:nvSpPr>
        <p:spPr>
          <a:xfrm>
            <a:off x="19266428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7"/>
          <p:cNvSpPr/>
          <p:nvPr/>
        </p:nvSpPr>
        <p:spPr>
          <a:xfrm>
            <a:off x="19528201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7"/>
          <p:cNvSpPr/>
          <p:nvPr/>
        </p:nvSpPr>
        <p:spPr>
          <a:xfrm>
            <a:off x="19789973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7"/>
          <p:cNvSpPr/>
          <p:nvPr/>
        </p:nvSpPr>
        <p:spPr>
          <a:xfrm>
            <a:off x="19266428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7"/>
          <p:cNvSpPr/>
          <p:nvPr/>
        </p:nvSpPr>
        <p:spPr>
          <a:xfrm>
            <a:off x="19528201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7"/>
          <p:cNvSpPr/>
          <p:nvPr/>
        </p:nvSpPr>
        <p:spPr>
          <a:xfrm>
            <a:off x="19789973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7"/>
          <p:cNvSpPr/>
          <p:nvPr/>
        </p:nvSpPr>
        <p:spPr>
          <a:xfrm>
            <a:off x="19266428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7"/>
          <p:cNvSpPr/>
          <p:nvPr/>
        </p:nvSpPr>
        <p:spPr>
          <a:xfrm>
            <a:off x="19528201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7"/>
          <p:cNvSpPr/>
          <p:nvPr/>
        </p:nvSpPr>
        <p:spPr>
          <a:xfrm>
            <a:off x="19789973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7"/>
          <p:cNvSpPr/>
          <p:nvPr/>
        </p:nvSpPr>
        <p:spPr>
          <a:xfrm>
            <a:off x="19266428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7"/>
          <p:cNvSpPr/>
          <p:nvPr/>
        </p:nvSpPr>
        <p:spPr>
          <a:xfrm>
            <a:off x="19528201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7"/>
          <p:cNvSpPr/>
          <p:nvPr/>
        </p:nvSpPr>
        <p:spPr>
          <a:xfrm>
            <a:off x="19789973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7"/>
          <p:cNvSpPr/>
          <p:nvPr/>
        </p:nvSpPr>
        <p:spPr>
          <a:xfrm>
            <a:off x="19266428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7"/>
          <p:cNvSpPr/>
          <p:nvPr/>
        </p:nvSpPr>
        <p:spPr>
          <a:xfrm>
            <a:off x="19528201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7"/>
          <p:cNvSpPr/>
          <p:nvPr/>
        </p:nvSpPr>
        <p:spPr>
          <a:xfrm>
            <a:off x="19789973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9" name="Google Shape;1059;p27"/>
          <p:cNvGrpSpPr/>
          <p:nvPr/>
        </p:nvGrpSpPr>
        <p:grpSpPr>
          <a:xfrm>
            <a:off x="0" y="3806785"/>
            <a:ext cx="20104100" cy="7502186"/>
            <a:chOff x="0" y="3806785"/>
            <a:chExt cx="20104100" cy="7502186"/>
          </a:xfrm>
        </p:grpSpPr>
        <p:sp>
          <p:nvSpPr>
            <p:cNvPr id="1060" name="Google Shape;1060;p27"/>
            <p:cNvSpPr/>
            <p:nvPr/>
          </p:nvSpPr>
          <p:spPr>
            <a:xfrm>
              <a:off x="8795543" y="3806785"/>
              <a:ext cx="2094229" cy="0"/>
            </a:xfrm>
            <a:custGeom>
              <a:avLst/>
              <a:gdLst/>
              <a:ahLst/>
              <a:cxnLst/>
              <a:rect l="l" t="t" r="r" b="b"/>
              <a:pathLst>
                <a:path w="2094229" h="120000" extrusionOk="0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noFill/>
            <a:ln w="31400" cap="flat" cmpd="sng">
              <a:solidFill>
                <a:srgbClr val="C127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27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 extrusionOk="0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 extrusionOk="0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27"/>
            <p:cNvSpPr/>
            <p:nvPr/>
          </p:nvSpPr>
          <p:spPr>
            <a:xfrm>
              <a:off x="0" y="11151492"/>
              <a:ext cx="20104100" cy="157479"/>
            </a:xfrm>
            <a:custGeom>
              <a:avLst/>
              <a:gdLst/>
              <a:ahLst/>
              <a:cxnLst/>
              <a:rect l="l" t="t" r="r" b="b"/>
              <a:pathLst>
                <a:path w="20104100" h="157479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3" name="Google Shape;1063;p27"/>
          <p:cNvSpPr txBox="1">
            <a:spLocks noGrp="1"/>
          </p:cNvSpPr>
          <p:nvPr>
            <p:ph type="title"/>
          </p:nvPr>
        </p:nvSpPr>
        <p:spPr>
          <a:xfrm>
            <a:off x="10877020" y="1938344"/>
            <a:ext cx="5470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/>
              <a:t>DUIS AUTE </a:t>
            </a:r>
            <a:r>
              <a:rPr lang="pt-BR" sz="4700" b="1">
                <a:latin typeface="Montserrat ExtraBold"/>
                <a:ea typeface="Montserrat ExtraBold"/>
                <a:cs typeface="Montserrat ExtraBold"/>
                <a:sym typeface="Montserrat ExtraBold"/>
              </a:rPr>
              <a:t>IRURE</a:t>
            </a:r>
            <a:endParaRPr sz="4700" b="1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64" name="Google Shape;10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731878" cy="1115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5" name="Google Shape;1065;p27"/>
          <p:cNvGrpSpPr/>
          <p:nvPr/>
        </p:nvGrpSpPr>
        <p:grpSpPr>
          <a:xfrm>
            <a:off x="9004966" y="262172"/>
            <a:ext cx="10785012" cy="10785012"/>
            <a:chOff x="9057316" y="261772"/>
            <a:chExt cx="10785012" cy="10785012"/>
          </a:xfrm>
        </p:grpSpPr>
        <p:pic>
          <p:nvPicPr>
            <p:cNvPr id="1066" name="Google Shape;1066;p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57316" y="261772"/>
              <a:ext cx="10785012" cy="10785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27"/>
            <p:cNvSpPr/>
            <p:nvPr/>
          </p:nvSpPr>
          <p:spPr>
            <a:xfrm>
              <a:off x="9842632" y="1047088"/>
              <a:ext cx="9214485" cy="9214485"/>
            </a:xfrm>
            <a:custGeom>
              <a:avLst/>
              <a:gdLst/>
              <a:ahLst/>
              <a:cxnLst/>
              <a:rect l="l" t="t" r="r" b="b"/>
              <a:pathLst>
                <a:path w="9214485" h="9214485" extrusionOk="0">
                  <a:moveTo>
                    <a:pt x="9214379" y="0"/>
                  </a:moveTo>
                  <a:lnTo>
                    <a:pt x="0" y="0"/>
                  </a:lnTo>
                  <a:lnTo>
                    <a:pt x="0" y="9214379"/>
                  </a:lnTo>
                  <a:lnTo>
                    <a:pt x="9214379" y="9214379"/>
                  </a:lnTo>
                  <a:lnTo>
                    <a:pt x="9214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8" name="Google Shape;1068;p27"/>
          <p:cNvSpPr txBox="1"/>
          <p:nvPr/>
        </p:nvSpPr>
        <p:spPr>
          <a:xfrm>
            <a:off x="10877029" y="2660400"/>
            <a:ext cx="58518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AGORA É</a:t>
            </a:r>
            <a:r>
              <a:rPr lang="pt-BR" sz="4700" b="1">
                <a:solidFill>
                  <a:srgbClr val="3333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COM VOCÊ!</a:t>
            </a:r>
            <a:endParaRPr sz="4700" b="1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69" name="Google Shape;1069;p27"/>
          <p:cNvSpPr txBox="1"/>
          <p:nvPr/>
        </p:nvSpPr>
        <p:spPr>
          <a:xfrm>
            <a:off x="10956770" y="5235563"/>
            <a:ext cx="68814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5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Crie um Brifieng do seu aplicativo, respondendo as perguntas que estão no google sala de aula</a:t>
            </a:r>
            <a:endParaRPr sz="3150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Google Shape;1074;p28"/>
          <p:cNvGrpSpPr/>
          <p:nvPr/>
        </p:nvGrpSpPr>
        <p:grpSpPr>
          <a:xfrm>
            <a:off x="15364003" y="9319087"/>
            <a:ext cx="3693222" cy="942975"/>
            <a:chOff x="15364003" y="9319087"/>
            <a:chExt cx="3693222" cy="942975"/>
          </a:xfrm>
        </p:grpSpPr>
        <p:sp>
          <p:nvSpPr>
            <p:cNvPr id="1075" name="Google Shape;1075;p28"/>
            <p:cNvSpPr/>
            <p:nvPr/>
          </p:nvSpPr>
          <p:spPr>
            <a:xfrm>
              <a:off x="15364066" y="9319087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28"/>
            <p:cNvSpPr/>
            <p:nvPr/>
          </p:nvSpPr>
          <p:spPr>
            <a:xfrm>
              <a:off x="15364003" y="9439611"/>
              <a:ext cx="3693159" cy="700404"/>
            </a:xfrm>
            <a:custGeom>
              <a:avLst/>
              <a:gdLst/>
              <a:ahLst/>
              <a:cxnLst/>
              <a:rect l="l" t="t" r="r" b="b"/>
              <a:pathLst>
                <a:path w="3693159" h="700404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 extrusionOk="0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 extrusionOk="0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 extrusionOk="0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 extrusionOk="0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 extrusionOk="0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 extrusionOk="0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 extrusionOk="0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 extrusionOk="0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7" name="Google Shape;1077;p28"/>
          <p:cNvSpPr/>
          <p:nvPr/>
        </p:nvSpPr>
        <p:spPr>
          <a:xfrm>
            <a:off x="17957569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8"/>
          <p:cNvSpPr/>
          <p:nvPr/>
        </p:nvSpPr>
        <p:spPr>
          <a:xfrm>
            <a:off x="18219340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8"/>
          <p:cNvSpPr/>
          <p:nvPr/>
        </p:nvSpPr>
        <p:spPr>
          <a:xfrm>
            <a:off x="18481112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8"/>
          <p:cNvSpPr/>
          <p:nvPr/>
        </p:nvSpPr>
        <p:spPr>
          <a:xfrm>
            <a:off x="18742885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8"/>
          <p:cNvSpPr/>
          <p:nvPr/>
        </p:nvSpPr>
        <p:spPr>
          <a:xfrm>
            <a:off x="19004657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8"/>
          <p:cNvSpPr/>
          <p:nvPr/>
        </p:nvSpPr>
        <p:spPr>
          <a:xfrm>
            <a:off x="19266428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8"/>
          <p:cNvSpPr/>
          <p:nvPr/>
        </p:nvSpPr>
        <p:spPr>
          <a:xfrm>
            <a:off x="19528201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8"/>
          <p:cNvSpPr/>
          <p:nvPr/>
        </p:nvSpPr>
        <p:spPr>
          <a:xfrm>
            <a:off x="19789973" y="26177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8"/>
          <p:cNvSpPr/>
          <p:nvPr/>
        </p:nvSpPr>
        <p:spPr>
          <a:xfrm>
            <a:off x="17957569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8"/>
          <p:cNvSpPr/>
          <p:nvPr/>
        </p:nvSpPr>
        <p:spPr>
          <a:xfrm>
            <a:off x="18219340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8"/>
          <p:cNvSpPr/>
          <p:nvPr/>
        </p:nvSpPr>
        <p:spPr>
          <a:xfrm>
            <a:off x="18481112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8"/>
          <p:cNvSpPr/>
          <p:nvPr/>
        </p:nvSpPr>
        <p:spPr>
          <a:xfrm>
            <a:off x="18742885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8"/>
          <p:cNvSpPr/>
          <p:nvPr/>
        </p:nvSpPr>
        <p:spPr>
          <a:xfrm>
            <a:off x="19004657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8"/>
          <p:cNvSpPr/>
          <p:nvPr/>
        </p:nvSpPr>
        <p:spPr>
          <a:xfrm>
            <a:off x="19266428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8"/>
          <p:cNvSpPr/>
          <p:nvPr/>
        </p:nvSpPr>
        <p:spPr>
          <a:xfrm>
            <a:off x="19528201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8"/>
          <p:cNvSpPr/>
          <p:nvPr/>
        </p:nvSpPr>
        <p:spPr>
          <a:xfrm>
            <a:off x="19789973" y="52354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8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8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8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8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8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8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8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8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8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8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8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8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8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8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8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8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8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8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8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8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8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8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8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8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8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8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8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8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8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8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8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8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8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8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8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8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8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8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8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8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8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8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8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8"/>
          <p:cNvSpPr txBox="1">
            <a:spLocks noGrp="1"/>
          </p:cNvSpPr>
          <p:nvPr>
            <p:ph type="title"/>
          </p:nvPr>
        </p:nvSpPr>
        <p:spPr>
          <a:xfrm>
            <a:off x="1542250" y="3269350"/>
            <a:ext cx="15804900" cy="3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9750" b="1" u="sng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MATRIZ CSD</a:t>
            </a:r>
            <a:r>
              <a:rPr lang="pt-BR" sz="97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84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6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INÍCIO DO DESENVOLVIMENTO DE UM</a:t>
            </a:r>
            <a:r>
              <a:rPr lang="pt-BR" sz="6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PROJETO DE UX/UI</a:t>
            </a:r>
            <a:endParaRPr sz="6400" b="1" u="sng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2" name="Google Shape;1142;p28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29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9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9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9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9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9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9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9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9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9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9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9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9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9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9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9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9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9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9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9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9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9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29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9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9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9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29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9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9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9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9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9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29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9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9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9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9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9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9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9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9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9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9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9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9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9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9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9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29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9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9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9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9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9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9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9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9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9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9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9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9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29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9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9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9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29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4" name="Google Shape;1214;p29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215" name="Google Shape;1215;p29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7" name="Google Shape;1217;p29"/>
          <p:cNvSpPr txBox="1">
            <a:spLocks noGrp="1"/>
          </p:cNvSpPr>
          <p:nvPr>
            <p:ph type="title"/>
          </p:nvPr>
        </p:nvSpPr>
        <p:spPr>
          <a:xfrm>
            <a:off x="1195875" y="1258488"/>
            <a:ext cx="147009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700" dirty="0"/>
              <a:t>O QUE É </a:t>
            </a:r>
            <a:r>
              <a:rPr lang="pt-BR" sz="6700" b="1" dirty="0">
                <a:latin typeface="Montserrat"/>
                <a:ea typeface="Montserrat"/>
                <a:cs typeface="Montserrat"/>
                <a:sym typeface="Montserrat"/>
              </a:rPr>
              <a:t>MATRIZ CSD</a:t>
            </a:r>
            <a:r>
              <a:rPr lang="pt-BR" sz="6700" dirty="0"/>
              <a:t>?</a:t>
            </a:r>
            <a:endParaRPr sz="6700" dirty="0"/>
          </a:p>
        </p:txBody>
      </p:sp>
      <p:sp>
        <p:nvSpPr>
          <p:cNvPr id="1218" name="Google Shape;1218;p29"/>
          <p:cNvSpPr txBox="1"/>
          <p:nvPr/>
        </p:nvSpPr>
        <p:spPr>
          <a:xfrm>
            <a:off x="1047100" y="3096400"/>
            <a:ext cx="7178400" cy="74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75" tIns="56525" rIns="113075" bIns="56525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Matriz CSD, sigla para:</a:t>
            </a:r>
            <a:br>
              <a:rPr lang="pt-BR" sz="3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3948" b="1" dirty="0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pt-BR" sz="3948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ertezas</a:t>
            </a:r>
            <a:endParaRPr sz="3948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48" b="1" dirty="0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pt-BR" sz="3948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uposições</a:t>
            </a:r>
            <a:endParaRPr sz="3948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48" b="1" dirty="0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pt-BR" sz="3948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úvidas</a:t>
            </a:r>
            <a:r>
              <a:rPr lang="pt-BR" sz="3948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pt-BR" sz="3948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3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 uma ferramenta muito utilizada no começo dos projetos. </a:t>
            </a:r>
            <a:endParaRPr sz="3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Servindo principalmente como um mapa, </a:t>
            </a:r>
            <a:r>
              <a:rPr lang="pt-BR" sz="33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organizando as informações</a:t>
            </a:r>
            <a:r>
              <a:rPr lang="pt-BR" sz="3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um projeto e </a:t>
            </a:r>
            <a:r>
              <a:rPr lang="pt-BR" sz="33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expondo</a:t>
            </a:r>
            <a:r>
              <a:rPr lang="pt-BR" sz="3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possíveis pontos fracos.</a:t>
            </a:r>
            <a:endParaRPr sz="3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9" name="Google Shape;121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700" y="3522525"/>
            <a:ext cx="11617176" cy="557066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0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0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0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0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0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0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0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0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0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0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0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0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0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0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0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0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0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0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0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0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30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0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0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30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0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0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0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0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0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0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0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0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0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0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0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0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0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0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0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30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0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30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0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0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0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0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0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0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0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0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0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0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0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0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0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0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0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0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0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0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0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0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0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0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0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0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0" name="Google Shape;1290;p30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291" name="Google Shape;1291;p30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0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3" name="Google Shape;1293;p30"/>
          <p:cNvSpPr txBox="1">
            <a:spLocks noGrp="1"/>
          </p:cNvSpPr>
          <p:nvPr>
            <p:ph type="title"/>
          </p:nvPr>
        </p:nvSpPr>
        <p:spPr>
          <a:xfrm>
            <a:off x="1254475" y="1376388"/>
            <a:ext cx="147009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300"/>
              <a:t>PARA QUE SERVE A </a:t>
            </a:r>
            <a:r>
              <a:rPr lang="pt-BR" sz="6300" b="1">
                <a:latin typeface="Montserrat"/>
                <a:ea typeface="Montserrat"/>
                <a:cs typeface="Montserrat"/>
                <a:sym typeface="Montserrat"/>
              </a:rPr>
              <a:t>MATRIZ CSD?</a:t>
            </a:r>
            <a:endParaRPr sz="63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30"/>
          <p:cNvSpPr txBox="1"/>
          <p:nvPr/>
        </p:nvSpPr>
        <p:spPr>
          <a:xfrm>
            <a:off x="963425" y="3088850"/>
            <a:ext cx="10533600" cy="6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75" tIns="56525" rIns="113075" bIns="56525" anchor="t" anchorCtr="0">
            <a:normAutofit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Organizar informações:</a:t>
            </a:r>
            <a:r>
              <a:rPr lang="pt-BR" sz="3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Colocando tudo em um só lugar, facilita a compreensão do projeto.</a:t>
            </a:r>
            <a:br>
              <a:rPr lang="pt-BR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3300" b="1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Clarear o pensamento:</a:t>
            </a:r>
            <a:r>
              <a:rPr lang="pt-BR" sz="3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Ajuda a identificar o que se sabe, o que se acredita e o que ainda precisa ser descoberto.</a:t>
            </a:r>
            <a:br>
              <a:rPr lang="pt-BR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pt-BR" sz="3300" b="1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Reduzir incertezas:</a:t>
            </a:r>
            <a:r>
              <a:rPr lang="pt-BR" sz="3300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Ao transformar suposições em perguntas a serem respondidas, diminui o risco de tomar decisões baseadas em informações imprecisas.</a:t>
            </a:r>
            <a:endParaRPr sz="3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5" name="Google Shape;1295;p30" descr="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44638" y="3657156"/>
            <a:ext cx="6350486" cy="6350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31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1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1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1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1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1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31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1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1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1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1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1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1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1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1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1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1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1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31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1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1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1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1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1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1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1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31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1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1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1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31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31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31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1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1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31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1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1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31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1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31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31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1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1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31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1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31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1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31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31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31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1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1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1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31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31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31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1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31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1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1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1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31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31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1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1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6" name="Google Shape;1366;p31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367" name="Google Shape;1367;p31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31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9" name="Google Shape;1369;p31"/>
          <p:cNvSpPr txBox="1">
            <a:spLocks noGrp="1"/>
          </p:cNvSpPr>
          <p:nvPr>
            <p:ph type="title"/>
          </p:nvPr>
        </p:nvSpPr>
        <p:spPr>
          <a:xfrm>
            <a:off x="1405150" y="956100"/>
            <a:ext cx="13600800" cy="1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000" b="1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pt-BR" sz="6000" b="1">
                <a:latin typeface="Montserrat"/>
                <a:ea typeface="Montserrat"/>
                <a:cs typeface="Montserrat"/>
                <a:sym typeface="Montserrat"/>
              </a:rPr>
              <a:t>ERTEZAS</a:t>
            </a:r>
            <a:r>
              <a:rPr lang="pt-BR" sz="6000"/>
              <a:t> - </a:t>
            </a:r>
            <a:endParaRPr sz="6000"/>
          </a:p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300"/>
              <a:t>o que sabemos?(base)</a:t>
            </a:r>
            <a:endParaRPr sz="4300"/>
          </a:p>
        </p:txBody>
      </p:sp>
      <p:sp>
        <p:nvSpPr>
          <p:cNvPr id="1370" name="Google Shape;1370;p31"/>
          <p:cNvSpPr txBox="1"/>
          <p:nvPr/>
        </p:nvSpPr>
        <p:spPr>
          <a:xfrm>
            <a:off x="1047100" y="3299650"/>
            <a:ext cx="12452100" cy="7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75" tIns="56525" rIns="113075" bIns="565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Fatos concretos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dados comprovados que embasam o projeto.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 c</a:t>
            </a:r>
            <a:r>
              <a:rPr lang="pt-BR" sz="4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oluna lista tudo o que a equipe sabe com um alto grau de confiança sobre o projeto,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 problema, os usuários ou o contexto neste momento. São fatos, dados comprovados, requisitos claros ou conhecimento estabelecido.</a:t>
            </a:r>
            <a:b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4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1" name="Google Shape;1371;p31" descr="Interface gráfica do usuário, Aplicativo, 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2525" y="3522988"/>
            <a:ext cx="5831525" cy="58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32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2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2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32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32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32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2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2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2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2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2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2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2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2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2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32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2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2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2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2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2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2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2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2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2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2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2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32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2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32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2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32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2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32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32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32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2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32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32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32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2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2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2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2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32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32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2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32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32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32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32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32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32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2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2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32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32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2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32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32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32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2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2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32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32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2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2" name="Google Shape;1442;p32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443" name="Google Shape;1443;p32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32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5" name="Google Shape;1445;p32"/>
          <p:cNvSpPr txBox="1"/>
          <p:nvPr/>
        </p:nvSpPr>
        <p:spPr>
          <a:xfrm>
            <a:off x="1047100" y="3157400"/>
            <a:ext cx="12061500" cy="52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75" tIns="56525" rIns="113075" bIns="565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Hipóteses 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 ainda precisam ser validadas, mas que guiam as ações.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Aqui entram todas as crenças, hipóteses e ideias que a equipe acha que são verdadeiras, mas que ainda não foram comprovadas com dados ou evidências concretas. São os "achismos" informados (ou nem tanto) que precisam ser validados.</a:t>
            </a:r>
            <a:b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4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6" name="Google Shape;1446;p32" descr="Interface gráfica do usuário, Aplicativo, 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2525" y="3522988"/>
            <a:ext cx="5831525" cy="583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32"/>
          <p:cNvSpPr txBox="1">
            <a:spLocks noGrp="1"/>
          </p:cNvSpPr>
          <p:nvPr>
            <p:ph type="title"/>
          </p:nvPr>
        </p:nvSpPr>
        <p:spPr>
          <a:xfrm>
            <a:off x="1215425" y="969788"/>
            <a:ext cx="14700900" cy="15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000" b="1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pt-BR"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UPOSIÇÕES</a:t>
            </a:r>
            <a:r>
              <a:rPr lang="pt-BR" sz="6000"/>
              <a:t> - </a:t>
            </a:r>
            <a:endParaRPr sz="6000"/>
          </a:p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900"/>
              <a:t>O que achamos que sabemos (hipóteses a validar, riscos).</a:t>
            </a:r>
            <a:endParaRPr sz="3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/>
          <p:nvPr/>
        </p:nvSpPr>
        <p:spPr>
          <a:xfrm>
            <a:off x="1047088" y="1047088"/>
            <a:ext cx="0" cy="1466214"/>
          </a:xfrm>
          <a:custGeom>
            <a:avLst/>
            <a:gdLst/>
            <a:ahLst/>
            <a:cxnLst/>
            <a:rect l="l" t="t" r="r" b="b"/>
            <a:pathLst>
              <a:path w="120000" h="1466214" extrusionOk="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w="104700" cap="flat" cmpd="sng">
            <a:solidFill>
              <a:srgbClr val="C12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33"/>
          <p:cNvSpPr/>
          <p:nvPr/>
        </p:nvSpPr>
        <p:spPr>
          <a:xfrm>
            <a:off x="0" y="11151492"/>
            <a:ext cx="20104100" cy="157479"/>
          </a:xfrm>
          <a:custGeom>
            <a:avLst/>
            <a:gdLst/>
            <a:ahLst/>
            <a:cxnLst/>
            <a:rect l="l" t="t" r="r" b="b"/>
            <a:pathLst>
              <a:path w="20104100" h="157479" extrusionOk="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33"/>
          <p:cNvSpPr/>
          <p:nvPr/>
        </p:nvSpPr>
        <p:spPr>
          <a:xfrm>
            <a:off x="17957569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3"/>
          <p:cNvSpPr/>
          <p:nvPr/>
        </p:nvSpPr>
        <p:spPr>
          <a:xfrm>
            <a:off x="18219340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33"/>
          <p:cNvSpPr/>
          <p:nvPr/>
        </p:nvSpPr>
        <p:spPr>
          <a:xfrm>
            <a:off x="18481112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3"/>
          <p:cNvSpPr/>
          <p:nvPr/>
        </p:nvSpPr>
        <p:spPr>
          <a:xfrm>
            <a:off x="18742885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33"/>
          <p:cNvSpPr/>
          <p:nvPr/>
        </p:nvSpPr>
        <p:spPr>
          <a:xfrm>
            <a:off x="19004657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3"/>
          <p:cNvSpPr/>
          <p:nvPr/>
        </p:nvSpPr>
        <p:spPr>
          <a:xfrm>
            <a:off x="19266428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33"/>
          <p:cNvSpPr/>
          <p:nvPr/>
        </p:nvSpPr>
        <p:spPr>
          <a:xfrm>
            <a:off x="19528201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3"/>
          <p:cNvSpPr/>
          <p:nvPr/>
        </p:nvSpPr>
        <p:spPr>
          <a:xfrm>
            <a:off x="19789973" y="9004961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33"/>
          <p:cNvSpPr/>
          <p:nvPr/>
        </p:nvSpPr>
        <p:spPr>
          <a:xfrm>
            <a:off x="17957569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3"/>
          <p:cNvSpPr/>
          <p:nvPr/>
        </p:nvSpPr>
        <p:spPr>
          <a:xfrm>
            <a:off x="18219340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33"/>
          <p:cNvSpPr/>
          <p:nvPr/>
        </p:nvSpPr>
        <p:spPr>
          <a:xfrm>
            <a:off x="18481112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3"/>
          <p:cNvSpPr/>
          <p:nvPr/>
        </p:nvSpPr>
        <p:spPr>
          <a:xfrm>
            <a:off x="18742885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33"/>
          <p:cNvSpPr/>
          <p:nvPr/>
        </p:nvSpPr>
        <p:spPr>
          <a:xfrm>
            <a:off x="19004657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33"/>
          <p:cNvSpPr/>
          <p:nvPr/>
        </p:nvSpPr>
        <p:spPr>
          <a:xfrm>
            <a:off x="19266428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33"/>
          <p:cNvSpPr/>
          <p:nvPr/>
        </p:nvSpPr>
        <p:spPr>
          <a:xfrm>
            <a:off x="19528201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3"/>
          <p:cNvSpPr/>
          <p:nvPr/>
        </p:nvSpPr>
        <p:spPr>
          <a:xfrm>
            <a:off x="19789973" y="926673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33"/>
          <p:cNvSpPr/>
          <p:nvPr/>
        </p:nvSpPr>
        <p:spPr>
          <a:xfrm>
            <a:off x="17957569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33"/>
          <p:cNvSpPr/>
          <p:nvPr/>
        </p:nvSpPr>
        <p:spPr>
          <a:xfrm>
            <a:off x="18219340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33"/>
          <p:cNvSpPr/>
          <p:nvPr/>
        </p:nvSpPr>
        <p:spPr>
          <a:xfrm>
            <a:off x="18481112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33"/>
          <p:cNvSpPr/>
          <p:nvPr/>
        </p:nvSpPr>
        <p:spPr>
          <a:xfrm>
            <a:off x="18742885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3"/>
          <p:cNvSpPr/>
          <p:nvPr/>
        </p:nvSpPr>
        <p:spPr>
          <a:xfrm>
            <a:off x="19004657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3"/>
          <p:cNvSpPr/>
          <p:nvPr/>
        </p:nvSpPr>
        <p:spPr>
          <a:xfrm>
            <a:off x="19266428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33"/>
          <p:cNvSpPr/>
          <p:nvPr/>
        </p:nvSpPr>
        <p:spPr>
          <a:xfrm>
            <a:off x="19528201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3"/>
          <p:cNvSpPr/>
          <p:nvPr/>
        </p:nvSpPr>
        <p:spPr>
          <a:xfrm>
            <a:off x="19789973" y="9528505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3"/>
          <p:cNvSpPr/>
          <p:nvPr/>
        </p:nvSpPr>
        <p:spPr>
          <a:xfrm>
            <a:off x="17957569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3"/>
          <p:cNvSpPr/>
          <p:nvPr/>
        </p:nvSpPr>
        <p:spPr>
          <a:xfrm>
            <a:off x="18219340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3"/>
          <p:cNvSpPr/>
          <p:nvPr/>
        </p:nvSpPr>
        <p:spPr>
          <a:xfrm>
            <a:off x="18481112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3"/>
          <p:cNvSpPr/>
          <p:nvPr/>
        </p:nvSpPr>
        <p:spPr>
          <a:xfrm>
            <a:off x="18742885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3"/>
          <p:cNvSpPr/>
          <p:nvPr/>
        </p:nvSpPr>
        <p:spPr>
          <a:xfrm>
            <a:off x="19004657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33"/>
          <p:cNvSpPr/>
          <p:nvPr/>
        </p:nvSpPr>
        <p:spPr>
          <a:xfrm>
            <a:off x="19266428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33"/>
          <p:cNvSpPr/>
          <p:nvPr/>
        </p:nvSpPr>
        <p:spPr>
          <a:xfrm>
            <a:off x="19528201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33"/>
          <p:cNvSpPr/>
          <p:nvPr/>
        </p:nvSpPr>
        <p:spPr>
          <a:xfrm>
            <a:off x="19789973" y="9790277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3"/>
          <p:cNvSpPr/>
          <p:nvPr/>
        </p:nvSpPr>
        <p:spPr>
          <a:xfrm>
            <a:off x="17957569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3"/>
          <p:cNvSpPr/>
          <p:nvPr/>
        </p:nvSpPr>
        <p:spPr>
          <a:xfrm>
            <a:off x="18219340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3"/>
          <p:cNvSpPr/>
          <p:nvPr/>
        </p:nvSpPr>
        <p:spPr>
          <a:xfrm>
            <a:off x="18481112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33"/>
          <p:cNvSpPr/>
          <p:nvPr/>
        </p:nvSpPr>
        <p:spPr>
          <a:xfrm>
            <a:off x="18742885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3"/>
          <p:cNvSpPr/>
          <p:nvPr/>
        </p:nvSpPr>
        <p:spPr>
          <a:xfrm>
            <a:off x="19004657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3"/>
          <p:cNvSpPr/>
          <p:nvPr/>
        </p:nvSpPr>
        <p:spPr>
          <a:xfrm>
            <a:off x="19266428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3"/>
          <p:cNvSpPr/>
          <p:nvPr/>
        </p:nvSpPr>
        <p:spPr>
          <a:xfrm>
            <a:off x="19528201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33"/>
          <p:cNvSpPr/>
          <p:nvPr/>
        </p:nvSpPr>
        <p:spPr>
          <a:xfrm>
            <a:off x="19789973" y="1005205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3"/>
          <p:cNvSpPr/>
          <p:nvPr/>
        </p:nvSpPr>
        <p:spPr>
          <a:xfrm>
            <a:off x="17957569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3"/>
          <p:cNvSpPr/>
          <p:nvPr/>
        </p:nvSpPr>
        <p:spPr>
          <a:xfrm>
            <a:off x="18219340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3"/>
          <p:cNvSpPr/>
          <p:nvPr/>
        </p:nvSpPr>
        <p:spPr>
          <a:xfrm>
            <a:off x="18481112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33"/>
          <p:cNvSpPr/>
          <p:nvPr/>
        </p:nvSpPr>
        <p:spPr>
          <a:xfrm>
            <a:off x="18742885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3"/>
          <p:cNvSpPr/>
          <p:nvPr/>
        </p:nvSpPr>
        <p:spPr>
          <a:xfrm>
            <a:off x="19004657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33"/>
          <p:cNvSpPr/>
          <p:nvPr/>
        </p:nvSpPr>
        <p:spPr>
          <a:xfrm>
            <a:off x="19266428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3"/>
          <p:cNvSpPr/>
          <p:nvPr/>
        </p:nvSpPr>
        <p:spPr>
          <a:xfrm>
            <a:off x="19528201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33"/>
          <p:cNvSpPr/>
          <p:nvPr/>
        </p:nvSpPr>
        <p:spPr>
          <a:xfrm>
            <a:off x="19789973" y="1031382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3"/>
          <p:cNvSpPr/>
          <p:nvPr/>
        </p:nvSpPr>
        <p:spPr>
          <a:xfrm>
            <a:off x="17957569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33"/>
          <p:cNvSpPr/>
          <p:nvPr/>
        </p:nvSpPr>
        <p:spPr>
          <a:xfrm>
            <a:off x="18219340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3"/>
          <p:cNvSpPr/>
          <p:nvPr/>
        </p:nvSpPr>
        <p:spPr>
          <a:xfrm>
            <a:off x="18481112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33"/>
          <p:cNvSpPr/>
          <p:nvPr/>
        </p:nvSpPr>
        <p:spPr>
          <a:xfrm>
            <a:off x="18742885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33"/>
          <p:cNvSpPr/>
          <p:nvPr/>
        </p:nvSpPr>
        <p:spPr>
          <a:xfrm>
            <a:off x="19004657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33"/>
          <p:cNvSpPr/>
          <p:nvPr/>
        </p:nvSpPr>
        <p:spPr>
          <a:xfrm>
            <a:off x="19266428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3"/>
          <p:cNvSpPr/>
          <p:nvPr/>
        </p:nvSpPr>
        <p:spPr>
          <a:xfrm>
            <a:off x="19528201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33"/>
          <p:cNvSpPr/>
          <p:nvPr/>
        </p:nvSpPr>
        <p:spPr>
          <a:xfrm>
            <a:off x="19789973" y="1057559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3"/>
          <p:cNvSpPr/>
          <p:nvPr/>
        </p:nvSpPr>
        <p:spPr>
          <a:xfrm>
            <a:off x="17957569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33"/>
          <p:cNvSpPr/>
          <p:nvPr/>
        </p:nvSpPr>
        <p:spPr>
          <a:xfrm>
            <a:off x="18219340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33"/>
          <p:cNvSpPr/>
          <p:nvPr/>
        </p:nvSpPr>
        <p:spPr>
          <a:xfrm>
            <a:off x="18481112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33"/>
          <p:cNvSpPr/>
          <p:nvPr/>
        </p:nvSpPr>
        <p:spPr>
          <a:xfrm>
            <a:off x="18742885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3"/>
          <p:cNvSpPr/>
          <p:nvPr/>
        </p:nvSpPr>
        <p:spPr>
          <a:xfrm>
            <a:off x="19004657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33"/>
          <p:cNvSpPr/>
          <p:nvPr/>
        </p:nvSpPr>
        <p:spPr>
          <a:xfrm>
            <a:off x="19266428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33"/>
          <p:cNvSpPr/>
          <p:nvPr/>
        </p:nvSpPr>
        <p:spPr>
          <a:xfrm>
            <a:off x="19528201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33"/>
          <p:cNvSpPr/>
          <p:nvPr/>
        </p:nvSpPr>
        <p:spPr>
          <a:xfrm>
            <a:off x="19789973" y="1083736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8" name="Google Shape;1518;p33"/>
          <p:cNvGrpSpPr/>
          <p:nvPr/>
        </p:nvGrpSpPr>
        <p:grpSpPr>
          <a:xfrm>
            <a:off x="15364003" y="1047088"/>
            <a:ext cx="3693222" cy="942975"/>
            <a:chOff x="15364003" y="1047088"/>
            <a:chExt cx="3693222" cy="942975"/>
          </a:xfrm>
        </p:grpSpPr>
        <p:sp>
          <p:nvSpPr>
            <p:cNvPr id="1519" name="Google Shape;1519;p33"/>
            <p:cNvSpPr/>
            <p:nvPr/>
          </p:nvSpPr>
          <p:spPr>
            <a:xfrm>
              <a:off x="15364066" y="1047088"/>
              <a:ext cx="3693159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 extrusionOk="0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15364003" y="1167618"/>
              <a:ext cx="3693159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 extrusionOk="0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 extrusionOk="0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 extrusionOk="0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 extrusionOk="0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 extrusionOk="0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 extrusionOk="0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 extrusionOk="0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 extrusionOk="0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 extrusionOk="0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 extrusionOk="0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 extrusionOk="0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 extrusionOk="0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 extrusionOk="0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 extrusionOk="0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 extrusionOk="0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1" name="Google Shape;1521;p33"/>
          <p:cNvSpPr txBox="1">
            <a:spLocks noGrp="1"/>
          </p:cNvSpPr>
          <p:nvPr>
            <p:ph type="title"/>
          </p:nvPr>
        </p:nvSpPr>
        <p:spPr>
          <a:xfrm>
            <a:off x="1254475" y="829638"/>
            <a:ext cx="14700900" cy="19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6000" b="1">
                <a:solidFill>
                  <a:srgbClr val="C1272C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pt-BR"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ÚVIDAS-</a:t>
            </a:r>
            <a:endParaRPr sz="6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sabemos que não sabemos (perguntas a responder, pesquisa a fazer).</a:t>
            </a:r>
            <a:endParaRPr sz="5900"/>
          </a:p>
        </p:txBody>
      </p:sp>
      <p:sp>
        <p:nvSpPr>
          <p:cNvPr id="1522" name="Google Shape;1522;p33"/>
          <p:cNvSpPr txBox="1"/>
          <p:nvPr/>
        </p:nvSpPr>
        <p:spPr>
          <a:xfrm>
            <a:off x="1047100" y="3272675"/>
            <a:ext cx="12139500" cy="52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075" tIns="56525" rIns="113075" bIns="565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Questões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que ainda não possuem resposta e que precisam ser investigadas.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 coluna contém as perguntas explícitas e as lacunas de conhecimento que a equipe reconhece ter. São as coisas que a equipe sabe que não sabe e que precisam ser respondidas para seguir em frente com confiança.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3" name="Google Shape;1523;p33" descr="Interface gráfica do usuário, Aplicativo, 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2525" y="3522988"/>
            <a:ext cx="5831525" cy="58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34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 extrusionOk="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4"/>
          <p:cNvSpPr/>
          <p:nvPr/>
        </p:nvSpPr>
        <p:spPr>
          <a:xfrm>
            <a:off x="14868656" y="0"/>
            <a:ext cx="5235575" cy="5235575"/>
          </a:xfrm>
          <a:custGeom>
            <a:avLst/>
            <a:gdLst/>
            <a:ahLst/>
            <a:cxnLst/>
            <a:rect l="l" t="t" r="r" b="b"/>
            <a:pathLst>
              <a:path w="5235575" h="5235575" extrusionOk="0">
                <a:moveTo>
                  <a:pt x="5235442" y="0"/>
                </a:moveTo>
                <a:lnTo>
                  <a:pt x="0" y="0"/>
                </a:lnTo>
                <a:lnTo>
                  <a:pt x="0" y="5235442"/>
                </a:lnTo>
                <a:lnTo>
                  <a:pt x="5235442" y="5235442"/>
                </a:lnTo>
                <a:lnTo>
                  <a:pt x="5235442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4"/>
          <p:cNvSpPr/>
          <p:nvPr/>
        </p:nvSpPr>
        <p:spPr>
          <a:xfrm>
            <a:off x="19266428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4"/>
          <p:cNvSpPr/>
          <p:nvPr/>
        </p:nvSpPr>
        <p:spPr>
          <a:xfrm>
            <a:off x="19528201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4"/>
          <p:cNvSpPr/>
          <p:nvPr/>
        </p:nvSpPr>
        <p:spPr>
          <a:xfrm>
            <a:off x="19789973" y="8376708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4"/>
          <p:cNvSpPr/>
          <p:nvPr/>
        </p:nvSpPr>
        <p:spPr>
          <a:xfrm>
            <a:off x="19266428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4"/>
          <p:cNvSpPr/>
          <p:nvPr/>
        </p:nvSpPr>
        <p:spPr>
          <a:xfrm>
            <a:off x="19528201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34"/>
          <p:cNvSpPr/>
          <p:nvPr/>
        </p:nvSpPr>
        <p:spPr>
          <a:xfrm>
            <a:off x="19789973" y="863848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4"/>
          <p:cNvSpPr/>
          <p:nvPr/>
        </p:nvSpPr>
        <p:spPr>
          <a:xfrm>
            <a:off x="19266428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4"/>
          <p:cNvSpPr/>
          <p:nvPr/>
        </p:nvSpPr>
        <p:spPr>
          <a:xfrm>
            <a:off x="19528201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4"/>
          <p:cNvSpPr/>
          <p:nvPr/>
        </p:nvSpPr>
        <p:spPr>
          <a:xfrm>
            <a:off x="19789973" y="8900252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4"/>
          <p:cNvSpPr/>
          <p:nvPr/>
        </p:nvSpPr>
        <p:spPr>
          <a:xfrm>
            <a:off x="19266428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4"/>
          <p:cNvSpPr/>
          <p:nvPr/>
        </p:nvSpPr>
        <p:spPr>
          <a:xfrm>
            <a:off x="19528201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4"/>
          <p:cNvSpPr/>
          <p:nvPr/>
        </p:nvSpPr>
        <p:spPr>
          <a:xfrm>
            <a:off x="19789973" y="9162024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4"/>
          <p:cNvSpPr/>
          <p:nvPr/>
        </p:nvSpPr>
        <p:spPr>
          <a:xfrm>
            <a:off x="19266428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4"/>
          <p:cNvSpPr/>
          <p:nvPr/>
        </p:nvSpPr>
        <p:spPr>
          <a:xfrm>
            <a:off x="19528201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34"/>
          <p:cNvSpPr/>
          <p:nvPr/>
        </p:nvSpPr>
        <p:spPr>
          <a:xfrm>
            <a:off x="19789973" y="9423796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4"/>
          <p:cNvSpPr/>
          <p:nvPr/>
        </p:nvSpPr>
        <p:spPr>
          <a:xfrm>
            <a:off x="19266428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4"/>
          <p:cNvSpPr/>
          <p:nvPr/>
        </p:nvSpPr>
        <p:spPr>
          <a:xfrm>
            <a:off x="19528201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4"/>
          <p:cNvSpPr/>
          <p:nvPr/>
        </p:nvSpPr>
        <p:spPr>
          <a:xfrm>
            <a:off x="19789973" y="9685569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4"/>
          <p:cNvSpPr/>
          <p:nvPr/>
        </p:nvSpPr>
        <p:spPr>
          <a:xfrm>
            <a:off x="19266428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4"/>
          <p:cNvSpPr/>
          <p:nvPr/>
        </p:nvSpPr>
        <p:spPr>
          <a:xfrm>
            <a:off x="19528201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34"/>
          <p:cNvSpPr/>
          <p:nvPr/>
        </p:nvSpPr>
        <p:spPr>
          <a:xfrm>
            <a:off x="19789973" y="9947340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4"/>
          <p:cNvSpPr/>
          <p:nvPr/>
        </p:nvSpPr>
        <p:spPr>
          <a:xfrm>
            <a:off x="19266428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4"/>
          <p:cNvSpPr/>
          <p:nvPr/>
        </p:nvSpPr>
        <p:spPr>
          <a:xfrm>
            <a:off x="19528201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4"/>
          <p:cNvSpPr/>
          <p:nvPr/>
        </p:nvSpPr>
        <p:spPr>
          <a:xfrm>
            <a:off x="19789973" y="10209113"/>
            <a:ext cx="52705" cy="52704"/>
          </a:xfrm>
          <a:custGeom>
            <a:avLst/>
            <a:gdLst/>
            <a:ahLst/>
            <a:cxnLst/>
            <a:rect l="l" t="t" r="r" b="b"/>
            <a:pathLst>
              <a:path w="52705" h="52704" extrusionOk="0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4" name="Google Shape;1554;p34"/>
          <p:cNvGrpSpPr/>
          <p:nvPr/>
        </p:nvGrpSpPr>
        <p:grpSpPr>
          <a:xfrm>
            <a:off x="0" y="3806785"/>
            <a:ext cx="20104100" cy="7502186"/>
            <a:chOff x="0" y="3806785"/>
            <a:chExt cx="20104100" cy="7502186"/>
          </a:xfrm>
        </p:grpSpPr>
        <p:sp>
          <p:nvSpPr>
            <p:cNvPr id="1555" name="Google Shape;1555;p34"/>
            <p:cNvSpPr/>
            <p:nvPr/>
          </p:nvSpPr>
          <p:spPr>
            <a:xfrm>
              <a:off x="8795543" y="3806785"/>
              <a:ext cx="2094229" cy="0"/>
            </a:xfrm>
            <a:custGeom>
              <a:avLst/>
              <a:gdLst/>
              <a:ahLst/>
              <a:cxnLst/>
              <a:rect l="l" t="t" r="r" b="b"/>
              <a:pathLst>
                <a:path w="2094229" h="120000" extrusionOk="0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noFill/>
            <a:ln w="31400" cap="flat" cmpd="sng">
              <a:solidFill>
                <a:srgbClr val="C1272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 extrusionOk="0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 extrusionOk="0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0" y="11151492"/>
              <a:ext cx="20104100" cy="157479"/>
            </a:xfrm>
            <a:custGeom>
              <a:avLst/>
              <a:gdLst/>
              <a:ahLst/>
              <a:cxnLst/>
              <a:rect l="l" t="t" r="r" b="b"/>
              <a:pathLst>
                <a:path w="20104100" h="157479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8" name="Google Shape;1558;p34"/>
          <p:cNvSpPr txBox="1">
            <a:spLocks noGrp="1"/>
          </p:cNvSpPr>
          <p:nvPr>
            <p:ph type="title"/>
          </p:nvPr>
        </p:nvSpPr>
        <p:spPr>
          <a:xfrm>
            <a:off x="10877020" y="1938344"/>
            <a:ext cx="5470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/>
              <a:t>DUIS AUTE </a:t>
            </a:r>
            <a:r>
              <a:rPr lang="pt-BR" sz="4700" b="1">
                <a:latin typeface="Montserrat ExtraBold"/>
                <a:ea typeface="Montserrat ExtraBold"/>
                <a:cs typeface="Montserrat ExtraBold"/>
                <a:sym typeface="Montserrat ExtraBold"/>
              </a:rPr>
              <a:t>IRURE</a:t>
            </a:r>
            <a:endParaRPr sz="4700" b="1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559" name="Google Shape;15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731878" cy="1115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0" name="Google Shape;1560;p34"/>
          <p:cNvGrpSpPr/>
          <p:nvPr/>
        </p:nvGrpSpPr>
        <p:grpSpPr>
          <a:xfrm>
            <a:off x="9004966" y="262172"/>
            <a:ext cx="10785012" cy="10785012"/>
            <a:chOff x="9057316" y="261772"/>
            <a:chExt cx="10785012" cy="10785012"/>
          </a:xfrm>
        </p:grpSpPr>
        <p:pic>
          <p:nvPicPr>
            <p:cNvPr id="1561" name="Google Shape;1561;p3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57316" y="261772"/>
              <a:ext cx="10785012" cy="10785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34"/>
            <p:cNvSpPr/>
            <p:nvPr/>
          </p:nvSpPr>
          <p:spPr>
            <a:xfrm>
              <a:off x="9842632" y="1047088"/>
              <a:ext cx="9214485" cy="9214485"/>
            </a:xfrm>
            <a:custGeom>
              <a:avLst/>
              <a:gdLst/>
              <a:ahLst/>
              <a:cxnLst/>
              <a:rect l="l" t="t" r="r" b="b"/>
              <a:pathLst>
                <a:path w="9214485" h="9214485" extrusionOk="0">
                  <a:moveTo>
                    <a:pt x="9214379" y="0"/>
                  </a:moveTo>
                  <a:lnTo>
                    <a:pt x="0" y="0"/>
                  </a:lnTo>
                  <a:lnTo>
                    <a:pt x="0" y="9214379"/>
                  </a:lnTo>
                  <a:lnTo>
                    <a:pt x="9214379" y="9214379"/>
                  </a:lnTo>
                  <a:lnTo>
                    <a:pt x="9214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3" name="Google Shape;1563;p34"/>
          <p:cNvSpPr txBox="1"/>
          <p:nvPr/>
        </p:nvSpPr>
        <p:spPr>
          <a:xfrm>
            <a:off x="10877029" y="2660400"/>
            <a:ext cx="58518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AGORA É</a:t>
            </a:r>
            <a:r>
              <a:rPr lang="pt-BR" sz="4700" b="1">
                <a:solidFill>
                  <a:srgbClr val="3333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COM VOCÊ!</a:t>
            </a:r>
            <a:endParaRPr sz="4700" b="1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64" name="Google Shape;1564;p34"/>
          <p:cNvSpPr txBox="1"/>
          <p:nvPr/>
        </p:nvSpPr>
        <p:spPr>
          <a:xfrm>
            <a:off x="10956770" y="5235563"/>
            <a:ext cx="6881400" cy="21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50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Crie a matriz CSD utilizando o briefing que respondeu no exercício anterior</a:t>
            </a:r>
            <a:endParaRPr sz="3150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9" name="Google Shape;1569;p35"/>
          <p:cNvGrpSpPr/>
          <p:nvPr/>
        </p:nvGrpSpPr>
        <p:grpSpPr>
          <a:xfrm>
            <a:off x="0" y="0"/>
            <a:ext cx="20104099" cy="11308556"/>
            <a:chOff x="0" y="0"/>
            <a:chExt cx="20104099" cy="11308556"/>
          </a:xfrm>
        </p:grpSpPr>
        <p:pic>
          <p:nvPicPr>
            <p:cNvPr id="1570" name="Google Shape;1570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20104099" cy="11308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1" name="Google Shape;1571;p35"/>
            <p:cNvSpPr/>
            <p:nvPr/>
          </p:nvSpPr>
          <p:spPr>
            <a:xfrm>
              <a:off x="2912068" y="4985450"/>
              <a:ext cx="5242559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 extrusionOk="0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35"/>
            <p:cNvSpPr/>
            <p:nvPr/>
          </p:nvSpPr>
          <p:spPr>
            <a:xfrm>
              <a:off x="2911983" y="5156523"/>
              <a:ext cx="5242559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 extrusionOk="0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 extrusionOk="0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 extrusionOk="0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 extrusionOk="0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 extrusionOk="0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 extrusionOk="0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 extrusionOk="0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 extrusionOk="0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 extrusionOk="0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 extrusionOk="0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 extrusionOk="0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 extrusionOk="0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 extrusionOk="0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 extrusionOk="0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 extrusionOk="0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3" name="Google Shape;1573;p35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50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2800">
                <a:solidFill>
                  <a:srgbClr val="FFFFFF"/>
                </a:solidFill>
              </a:rPr>
              <a:t>SENAI</a:t>
            </a:r>
            <a:endParaRPr sz="2800"/>
          </a:p>
        </p:txBody>
      </p:sp>
      <p:sp>
        <p:nvSpPr>
          <p:cNvPr id="1574" name="Google Shape;1574;p35"/>
          <p:cNvSpPr txBox="1"/>
          <p:nvPr/>
        </p:nvSpPr>
        <p:spPr>
          <a:xfrm>
            <a:off x="10052050" y="5107290"/>
            <a:ext cx="7153251" cy="1753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6510" marR="0" lvl="0" indent="0" algn="l" rtl="0">
              <a:lnSpc>
                <a:spcPct val="11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PAULO ANTONIO SKAF</a:t>
            </a:r>
            <a:endParaRPr sz="2800" b="1" i="0" u="none" strike="noStrike" cap="none" dirty="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12700" marR="0" lvl="0" indent="0" algn="l" rtl="0">
              <a:lnSpc>
                <a:spcPct val="1186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lang="pt-BR" sz="6750" b="0" i="0" u="sng" strike="noStrike" cap="none" dirty="0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www.sp.senai.br</a:t>
            </a:r>
            <a:endParaRPr sz="675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75" name="Google Shape;1575;p35"/>
          <p:cNvGrpSpPr/>
          <p:nvPr/>
        </p:nvGrpSpPr>
        <p:grpSpPr>
          <a:xfrm>
            <a:off x="0" y="4154076"/>
            <a:ext cx="20104100" cy="7154895"/>
            <a:chOff x="0" y="4154076"/>
            <a:chExt cx="20104100" cy="7154895"/>
          </a:xfrm>
        </p:grpSpPr>
        <p:sp>
          <p:nvSpPr>
            <p:cNvPr id="1576" name="Google Shape;1576;p35"/>
            <p:cNvSpPr/>
            <p:nvPr/>
          </p:nvSpPr>
          <p:spPr>
            <a:xfrm>
              <a:off x="9201187" y="4154076"/>
              <a:ext cx="0" cy="3001009"/>
            </a:xfrm>
            <a:custGeom>
              <a:avLst/>
              <a:gdLst/>
              <a:ahLst/>
              <a:cxnLst/>
              <a:rect l="l" t="t" r="r" b="b"/>
              <a:pathLst>
                <a:path w="120000" h="3001009" extrusionOk="0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noFill/>
            <a:ln w="278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35"/>
            <p:cNvSpPr/>
            <p:nvPr/>
          </p:nvSpPr>
          <p:spPr>
            <a:xfrm>
              <a:off x="0" y="11151492"/>
              <a:ext cx="20104100" cy="157479"/>
            </a:xfrm>
            <a:custGeom>
              <a:avLst/>
              <a:gdLst/>
              <a:ahLst/>
              <a:cxnLst/>
              <a:rect l="l" t="t" r="r" b="b"/>
              <a:pathLst>
                <a:path w="20104100" h="157479" extrusionOk="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1486</Words>
  <Application>Microsoft Macintosh PowerPoint</Application>
  <PresentationFormat>Personalizar</PresentationFormat>
  <Paragraphs>99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23</vt:i4>
      </vt:variant>
    </vt:vector>
  </HeadingPairs>
  <TitlesOfParts>
    <vt:vector size="32" baseType="lpstr">
      <vt:lpstr>Oswald Light</vt:lpstr>
      <vt:lpstr>Montserrat Light</vt:lpstr>
      <vt:lpstr>Montserrat</vt:lpstr>
      <vt:lpstr>Montserrat ExtraBold</vt:lpstr>
      <vt:lpstr>Arial</vt:lpstr>
      <vt:lpstr>Helvetica Neue</vt:lpstr>
      <vt:lpstr>Calibri</vt:lpstr>
      <vt:lpstr>Office Theme</vt:lpstr>
      <vt:lpstr>Office Theme</vt:lpstr>
      <vt:lpstr>Apresentação do PowerPoint</vt:lpstr>
      <vt:lpstr>UX vs UI</vt:lpstr>
      <vt:lpstr>Apresentação do PowerPoint</vt:lpstr>
      <vt:lpstr>BRIEFING INÍCIO DO DESENVOLVIMENTO DE UM PROJETO DE UX/UI</vt:lpstr>
      <vt:lpstr>O QUE É UM BRIEFING?</vt:lpstr>
      <vt:lpstr>PARA QUE SERVE O BRIEFING?</vt:lpstr>
      <vt:lpstr>EXEMPLO DE BRIEFING</vt:lpstr>
      <vt:lpstr>EXEMPLO DE BRIEFING</vt:lpstr>
      <vt:lpstr>EXEMPLO DE BRIEFING</vt:lpstr>
      <vt:lpstr>EXEMPLO DE BRIEFING</vt:lpstr>
      <vt:lpstr>EXEMPLO DE BRIEFING</vt:lpstr>
      <vt:lpstr>EXEMPLO DE BRIEFING</vt:lpstr>
      <vt:lpstr>EXEMPLO DE BRIEFING</vt:lpstr>
      <vt:lpstr>EXEMPLO DE BRIEFING</vt:lpstr>
      <vt:lpstr>DUIS AUTE IRURE</vt:lpstr>
      <vt:lpstr>MATRIZ CSD- INÍCIO DO DESENVOLVIMENTO DE UM PROJETO DE UX/UI</vt:lpstr>
      <vt:lpstr>O QUE É MATRIZ CSD?</vt:lpstr>
      <vt:lpstr>PARA QUE SERVE A MATRIZ CSD?</vt:lpstr>
      <vt:lpstr>CERTEZAS -  o que sabemos?(base)</vt:lpstr>
      <vt:lpstr>SUPOSIÇÕES -  O que achamos que sabemos (hipóteses a validar, riscos).</vt:lpstr>
      <vt:lpstr>DÚVIDAS- O que sabemos que não sabemos (perguntas a responder, pesquisa a fazer).</vt:lpstr>
      <vt:lpstr>DUIS AUTE IRURE</vt:lpstr>
      <vt:lpstr>SENAI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Ribeiro de Lacerda</cp:lastModifiedBy>
  <cp:revision>4</cp:revision>
  <dcterms:modified xsi:type="dcterms:W3CDTF">2026-05-22T20:40:32Z</dcterms:modified>
</cp:coreProperties>
</file>