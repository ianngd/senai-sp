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77887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do bloco de requisitos. Falar: 'Vocês entrevistaram pessoas e descobriram dores e necessidades. Agora vamos traduzir isso para a linguagem técnica do sistema. Tudo o que um sistema precisa ter ou ser chamamos de REQUISITO. E eles se dividem em dois grandes tipos.'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dar a definição simples. O macete dos dois 'testes de frase' é o coração da aula — se a frase encaixa em 'permitir que o usuário...', é funcional; se encaixa em 'ser rápido/seguro/fácil', é não funcional. Repetir esse macete várias vezes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ir linha por linha. Parar no exemplo do FitPet: 'avaliar veterinário' é a função (RF). 'Responder em 2 segundos' é a qualidade dessa função (RNF). A última linha ('se falhar') é a que fixa o conceito: RF ausente = falta recurso; RNF ruim = recurso existe mas a experiência é péssima.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este é o slide mais importante do bloco. O erro clássico do aluno é listar só funções. Mostrar que UMA função simples (login) já gera 3 requisitos de qualidade. Pedir para a turma: 'me deem outro RNF que o login carrega' (ex: disponibilidade, recuperação de senha). Esse raciocínio é o que eles vão usar no mapa de empatia depois.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falar: usar como checklist mental. Destacar LGPD: todos os apps da turma coletam dados pessoais, então é um RNF legal obrigatório no Brasil. Sugestão de fala: 'antes de fechar os requisitos, passem o app de vocês por estas 6 caixas e perguntem se cada uma gera um requisito'.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 do bloco de requisitos e ponte para o mapa de empatia. Eles completam o template (que antes só tinha RF) adicionando RNF. Depois disso, emendar direto nos slides do Mapa de Empatia. A frase final prepara a transição.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371600"/>
            <a:ext cx="4846320" cy="484632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4023360"/>
            <a:ext cx="3840480" cy="38404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REQUISITOS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822960" y="31546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Funcionais e Não Funcionais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22960" y="3886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 × como ele faz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5577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de Requisitos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Lucas Ribeiro de Lacerda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é um requisito?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uma </a:t>
            </a: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ou capacidade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o sistema precisa atender para resolver o problema do usuário. É o </a:t>
            </a:r>
            <a:r>
              <a:rPr lang="en-US" sz="2000" b="1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</a:t>
            </a:r>
            <a:r>
              <a:rPr lang="en-US" sz="2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entre o que foi pedido e o que será construído.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5257800" cy="329184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1546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4069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FUNCIONAIS (RF)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60120" y="45262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D6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deve FAZER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50749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"O sistema deve permitir que o usuário..."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55080" y="2743200"/>
            <a:ext cx="5257800" cy="3291840"/>
          </a:xfrm>
          <a:prstGeom prst="rect">
            <a:avLst/>
          </a:prstGeom>
          <a:solidFill>
            <a:srgbClr val="F08A5D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154680"/>
            <a:ext cx="822960" cy="822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66560" y="40690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FUNCIONAIS (RNF)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6766560" y="45262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CE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sistema deve fazer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766560" y="5074920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Teste: "O sistema deve ser rápido / seguro / fácil..."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Funcional × Não Funcional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749040" y="1417320"/>
            <a:ext cx="4160520" cy="59436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3749040" y="141732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 (RF)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909560" y="1417320"/>
            <a:ext cx="4160520" cy="594360"/>
          </a:xfrm>
          <a:prstGeom prst="rect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909560" y="141732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FUNCIONAL (RNF)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200400" cy="1051560"/>
          </a:xfrm>
          <a:prstGeom prst="rect">
            <a:avLst/>
          </a:prstGeom>
          <a:solidFill>
            <a:srgbClr val="1A3A4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713232" y="201168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 que responde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749040" y="2011680"/>
            <a:ext cx="41605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913632" y="201168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sistema faz?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909560" y="2011680"/>
            <a:ext cx="41605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8074152" y="201168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QUE QUALIDADE ele faz?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3200400" cy="1051560"/>
          </a:xfrm>
          <a:prstGeom prst="rect">
            <a:avLst/>
          </a:prstGeom>
          <a:solidFill>
            <a:srgbClr val="1A3A4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713232" y="306324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749040" y="30632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913632" y="306324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Função, ação, serviço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7909560" y="306324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8074152" y="306324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Atributo, restrição, qualidade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3200400" cy="1051560"/>
          </a:xfrm>
          <a:prstGeom prst="rect">
            <a:avLst/>
          </a:prstGeom>
          <a:solidFill>
            <a:srgbClr val="1A3A4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713232" y="411480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(app FitPet)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749040" y="4114800"/>
            <a:ext cx="41605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913632" y="411480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avaliar um veterinário de 1 a 5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7909560" y="4114800"/>
            <a:ext cx="4160520" cy="1051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8074152" y="411480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busca deve responder em até 2 segundos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3200400" cy="1051560"/>
          </a:xfrm>
          <a:prstGeom prst="rect">
            <a:avLst/>
          </a:prstGeom>
          <a:solidFill>
            <a:srgbClr val="1A3A4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713232" y="5166360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falhar...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749040" y="516636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3913632" y="516636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uma função (o app não faz algo)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7909560" y="5166360"/>
            <a:ext cx="41605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8074152" y="5166360"/>
            <a:ext cx="38313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existe, mas é lenta/insegura/confusa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 RF carrega RNFs escondidos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200400" cy="1371600"/>
          </a:xfrm>
          <a:prstGeom prst="rect">
            <a:avLst/>
          </a:prstGeom>
          <a:solidFill>
            <a:srgbClr val="02809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D6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Permitir login</a:t>
            </a:r>
            <a:endParaRPr lang="en-US" sz="13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2057400"/>
            <a:ext cx="502920" cy="502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617720" y="1554480"/>
            <a:ext cx="6903720" cy="13716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4892040" y="187452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2048256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2160" y="1554480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· Segurança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senha deve ser criptografada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617720" y="3108960"/>
            <a:ext cx="6903720" cy="13716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7"/>
          <p:cNvSpPr/>
          <p:nvPr/>
        </p:nvSpPr>
        <p:spPr>
          <a:xfrm>
            <a:off x="4892040" y="3429000"/>
            <a:ext cx="731520" cy="731520"/>
          </a:xfrm>
          <a:prstGeom prst="ellipse">
            <a:avLst/>
          </a:prstGeom>
          <a:solidFill>
            <a:srgbClr val="3AA8A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3602736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852160" y="3108960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3AA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· Desempenho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login deve ocorrer em até 3s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617720" y="4663440"/>
            <a:ext cx="6903720" cy="137160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4892040" y="4983480"/>
            <a:ext cx="731520" cy="731520"/>
          </a:xfrm>
          <a:prstGeom prst="ellipse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5157216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852160" y="4663440"/>
            <a:ext cx="5440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 · Portabilidade</a:t>
            </a:r>
            <a:endParaRPr lang="en-US" sz="15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 funcionar em Android e iOS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548640" y="5989320"/>
            <a:ext cx="11064240" cy="0"/>
          </a:xfrm>
          <a:prstGeom prst="rect">
            <a:avLst/>
          </a:prstGeom>
          <a:noFill/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3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08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lição: </a:t>
            </a: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cada função que vocês listam, perguntem </a:t>
            </a:r>
            <a:r>
              <a:rPr lang="en-US" sz="16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"com que qualidade isso precisa acontecer?"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categorias de RNF (checklist)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faltar inspiração de requisitos de qualidade, passem por esta lista: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93592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777240" cy="7772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148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37360" y="246888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de resposta, usuários simultâneos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06824" y="1645920"/>
            <a:ext cx="3593592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81144" y="1965960"/>
            <a:ext cx="777240" cy="77724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1488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95544" y="196596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495544" y="246888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Criptografia, autenticação, permissões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65008" y="1645920"/>
            <a:ext cx="3593592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339328" y="1965960"/>
            <a:ext cx="777240" cy="777240"/>
          </a:xfrm>
          <a:prstGeom prst="ellipse">
            <a:avLst/>
          </a:prstGeom>
          <a:solidFill>
            <a:srgbClr val="3AA8A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2208" y="21488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53728" y="1965960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Usabilidade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253728" y="2468880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Fácil de aprender, acessibilidade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3630168"/>
            <a:ext cx="3593592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5"/>
          <p:cNvSpPr/>
          <p:nvPr/>
        </p:nvSpPr>
        <p:spPr>
          <a:xfrm>
            <a:off x="822960" y="3950208"/>
            <a:ext cx="777240" cy="777240"/>
          </a:xfrm>
          <a:prstGeom prst="ellipse">
            <a:avLst/>
          </a:prstGeom>
          <a:solidFill>
            <a:srgbClr val="4C9A8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133088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3950208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Disponibilidade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737360" y="4453128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tempo no ar (ex: 99%)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306824" y="3630168"/>
            <a:ext cx="3593592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5" name="Shape 19"/>
          <p:cNvSpPr/>
          <p:nvPr/>
        </p:nvSpPr>
        <p:spPr>
          <a:xfrm>
            <a:off x="4581144" y="3950208"/>
            <a:ext cx="777240" cy="777240"/>
          </a:xfrm>
          <a:prstGeom prst="ellipse">
            <a:avLst/>
          </a:prstGeom>
          <a:solidFill>
            <a:srgbClr val="F08A5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4024" y="4133088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95544" y="3950208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5495544" y="4453128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Aguentar crescimento de usuários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065008" y="3630168"/>
            <a:ext cx="3593592" cy="1783080"/>
          </a:xfrm>
          <a:prstGeom prst="rect">
            <a:avLst/>
          </a:prstGeom>
          <a:solidFill>
            <a:srgbClr val="F1F5F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3"/>
          <p:cNvSpPr/>
          <p:nvPr/>
        </p:nvSpPr>
        <p:spPr>
          <a:xfrm>
            <a:off x="8339328" y="3950208"/>
            <a:ext cx="777240" cy="777240"/>
          </a:xfrm>
          <a:prstGeom prst="ellipse">
            <a:avLst/>
          </a:prstGeom>
          <a:solidFill>
            <a:srgbClr val="E07A5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2208" y="4133088"/>
            <a:ext cx="411480" cy="4114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53728" y="3950208"/>
            <a:ext cx="2221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Legais / LGPD</a:t>
            </a:r>
            <a:endParaRPr lang="en-US" sz="1700" dirty="0"/>
          </a:p>
        </p:txBody>
      </p:sp>
      <p:sp>
        <p:nvSpPr>
          <p:cNvPr id="33" name="Text 25"/>
          <p:cNvSpPr/>
          <p:nvPr/>
        </p:nvSpPr>
        <p:spPr>
          <a:xfrm>
            <a:off x="9253728" y="4453128"/>
            <a:ext cx="2221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e dados pessoais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3566160"/>
            <a:ext cx="5029200" cy="5029200"/>
          </a:xfrm>
          <a:prstGeom prst="ellipse">
            <a:avLst/>
          </a:prstGeom>
          <a:solidFill>
            <a:srgbClr val="028090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9692640" y="-1554480"/>
            <a:ext cx="4389120" cy="438912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09728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8288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Tarefa rápida (15 min)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822960" y="2971800"/>
            <a:ext cx="105156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4"/>
          <p:cNvSpPr/>
          <p:nvPr/>
        </p:nvSpPr>
        <p:spPr>
          <a:xfrm>
            <a:off x="822960" y="2971800"/>
            <a:ext cx="128016" cy="2834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234440" y="32004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de vocês: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Peguem 1 RF que já escreveram no template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Perguntem: "com que qualidade isso precisa acontecer?"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Escrevam 3 RNF, usando 3 categorias diferentes da lista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Lembrem da LGPD — o app coleta dados pessoais?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713</Words>
  <Application>Microsoft Macintosh PowerPoint</Application>
  <PresentationFormat>Widescreen</PresentationFormat>
  <Paragraphs>70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Requisitos Funcionais e Não Funcionais</dc:title>
  <dc:subject>PptxGenJS Presentation</dc:subject>
  <dc:creator>Prof. Lucas Ribeiro de Lacerda</dc:creator>
  <cp:lastModifiedBy>Lucas Ribeiro de Lacerda</cp:lastModifiedBy>
  <cp:revision>2</cp:revision>
  <dcterms:created xsi:type="dcterms:W3CDTF">2026-05-29T17:42:32Z</dcterms:created>
  <dcterms:modified xsi:type="dcterms:W3CDTF">2026-05-29T17:51:02Z</dcterms:modified>
</cp:coreProperties>
</file>