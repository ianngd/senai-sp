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7456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Conectar com o que já fizeram: 'Vocês já entrevistaram pessoas e levantaram requisitos. Hoje vamos dar um passo mais fundo: entender de verdade QUEM é esse usuário, o que ele pensa, sente, vê e ouve. Essa é a ferramenta que transforma dados de entrevista em empatia real.'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falar: amarrar a jornada. Eles JÁ fizeram entrevista e estão fazendo requisitos. O mapa de empatia é a ponte entre 'o que a pessoa disse' e 'o que a pessoa realmente precisa'. Sem empatia, viramos uma fábrica de funcionalidades que ninguém pediu.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falar: usar a analogia do restaurante (ou adaptar ao tema). O ponto-chave: a gente naturalmente descreve o produto pela nossa visão de criador. O mapa força a perspectiva do usuário. À direita está a estrutura que vamos detalhar nos próximos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falar: enfatizar 'Revela o não-dito'. Exemplo: alguém diz 'eu não me importo com preço', mas demonstra ansiedade toda vez que fala em gastar. O mapa captura isso na separação entre FALA e SENTE.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falar: percorrer as 6 áreas. Truque didático: PENSA/SENTE (cabeça), VÊ (olhos), OUVE (orelhas), FALA/FAZ (boca) — é o próprio corpo. DORES e GANHOS são o resultado. Pedir um exemplo rápido da turma para cada área.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falar: este é o 'aha' da aula. Mostrar como uma frase de entrevista vira um post-it no mapa. Pergunta para a turma: 'A dor de não saber em quem confiar → que requisito isso gera?' (Resposta esperada: sistema de avaliações/reputação). Assim eles ligam mapa de empatia → requisito.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falar: explicar a logística da aula online. Reforçar a regra do passo 3 (divergir antes de convergir): primeiro todos despejam ideias, depois organizam. O passo 5 é o que conecta com a disciplina de requisitos.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falar: você usa Figma, então FigJam é o caminho natural — pode pré-criar uma sala e jogar o link. Se a internet dos alunos for instável, o Google Slides com a grade pronta é o plano B mais seguro. O importante não é a ferramenta, é o pensamento.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falar: o erro nº1 é o achismo. Se um post-it não tem base em algo que alguém disse/observou, é hipótese — marque com cor diferente para validar depois. O erro nº2 mais comum é não fechar o ciclo: parar nas dores e esquecer de gerar requisito.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Encerramento: lançar a atividade. Eles reaproveitam a persona da entrevista — continuidade total com o que já estão fazendo. O entregável fecha o ciclo da disciplina: empatia → dor → requisito. Definir tempo e forma de entrega.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241280" y="3840480"/>
            <a:ext cx="4114800" cy="411480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7160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1945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MAPA DE EMPATIA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822960" y="3337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Entendendo o usuário por trás dos requisitos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22960" y="55778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Levantamento de Requisitos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Lucas Ribeiro de Lacerda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Onde isso se encaixa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606040" cy="27432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10972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394460" y="214884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628" y="2350008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2461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37033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Conversamos com usuários reais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108960" y="265176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8090"/>
                </a:solidFill>
              </a:rPr>
              <a:t>›</a:t>
            </a:r>
            <a:endParaRPr lang="en-US" sz="4000" dirty="0"/>
          </a:p>
        </p:txBody>
      </p:sp>
      <p:sp>
        <p:nvSpPr>
          <p:cNvPr id="10" name="Shape 7"/>
          <p:cNvSpPr/>
          <p:nvPr/>
        </p:nvSpPr>
        <p:spPr>
          <a:xfrm>
            <a:off x="3474720" y="1737360"/>
            <a:ext cx="2606040" cy="27432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3474720" y="1737360"/>
            <a:ext cx="2606040" cy="10972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4320540" y="214884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1708" y="2350008"/>
            <a:ext cx="512064" cy="5120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6160" y="32461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611880" y="37033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e RNF: o que o sistema faz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6035040" y="265176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A896"/>
                </a:solidFill>
              </a:rPr>
              <a:t>›</a:t>
            </a:r>
            <a:endParaRPr lang="en-US" sz="4000" dirty="0"/>
          </a:p>
        </p:txBody>
      </p:sp>
      <p:sp>
        <p:nvSpPr>
          <p:cNvPr id="17" name="Shape 13"/>
          <p:cNvSpPr/>
          <p:nvPr/>
        </p:nvSpPr>
        <p:spPr>
          <a:xfrm>
            <a:off x="6400800" y="1737360"/>
            <a:ext cx="2606040" cy="27432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4"/>
          <p:cNvSpPr/>
          <p:nvPr/>
        </p:nvSpPr>
        <p:spPr>
          <a:xfrm>
            <a:off x="6400800" y="1737360"/>
            <a:ext cx="2606040" cy="109728"/>
          </a:xfrm>
          <a:prstGeom prst="rect">
            <a:avLst/>
          </a:prstGeom>
          <a:solidFill>
            <a:srgbClr val="F08A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5"/>
          <p:cNvSpPr/>
          <p:nvPr/>
        </p:nvSpPr>
        <p:spPr>
          <a:xfrm>
            <a:off x="7246620" y="2148840"/>
            <a:ext cx="914400" cy="914400"/>
          </a:xfrm>
          <a:prstGeom prst="ellipse">
            <a:avLst/>
          </a:prstGeom>
          <a:solidFill>
            <a:srgbClr val="F08A5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7788" y="2350008"/>
            <a:ext cx="512064" cy="51206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92240" y="32461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Empatia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6537960" y="37033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é o usuário e por quê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961120" y="265176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08A5D"/>
                </a:solidFill>
              </a:rPr>
              <a:t>›</a:t>
            </a:r>
            <a:endParaRPr lang="en-US" sz="4000" dirty="0"/>
          </a:p>
        </p:txBody>
      </p:sp>
      <p:sp>
        <p:nvSpPr>
          <p:cNvPr id="24" name="Shape 19"/>
          <p:cNvSpPr/>
          <p:nvPr/>
        </p:nvSpPr>
        <p:spPr>
          <a:xfrm>
            <a:off x="9326880" y="1737360"/>
            <a:ext cx="2606040" cy="27432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0"/>
          <p:cNvSpPr/>
          <p:nvPr/>
        </p:nvSpPr>
        <p:spPr>
          <a:xfrm>
            <a:off x="9326880" y="1737360"/>
            <a:ext cx="2606040" cy="10972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1"/>
          <p:cNvSpPr/>
          <p:nvPr/>
        </p:nvSpPr>
        <p:spPr>
          <a:xfrm>
            <a:off x="10172700" y="214884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73868" y="2350008"/>
            <a:ext cx="512064" cy="51206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418320" y="32461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de Design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9464040" y="37033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o que realmente importa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548640" y="5029200"/>
            <a:ext cx="11064240" cy="1097280"/>
          </a:xfrm>
          <a:prstGeom prst="rect">
            <a:avLst/>
          </a:prstGeom>
          <a:solidFill>
            <a:srgbClr val="1A3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5"/>
          <p:cNvSpPr/>
          <p:nvPr/>
        </p:nvSpPr>
        <p:spPr>
          <a:xfrm>
            <a:off x="822960" y="5029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entrevista deu os DADOS.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mapa de empatia transforma esses dados em </a:t>
            </a:r>
            <a:r>
              <a:rPr lang="en-US" sz="1600" b="1" dirty="0">
                <a:solidFill>
                  <a:srgbClr val="F08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entendimento humano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 é isso que evita construir o produto errado.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o Mapa de Empatia?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uma ferramenta visual que organiza tudo o que sabemos sobre um usuário em </a:t>
            </a:r>
            <a:r>
              <a:rPr lang="en-US" sz="1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perspectivas</a:t>
            </a: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para enxergarmos o mundo </a:t>
            </a:r>
            <a:r>
              <a:rPr lang="en-US" sz="1900" b="1" dirty="0">
                <a:solidFill>
                  <a:srgbClr val="F08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pelos olhos dele</a:t>
            </a: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3200400"/>
            <a:ext cx="5669280" cy="3017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118872" cy="3017520"/>
          </a:xfrm>
          <a:prstGeom prst="rect">
            <a:avLst/>
          </a:prstGeom>
          <a:solidFill>
            <a:srgbClr val="F08A5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8680" y="342900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3401568"/>
            <a:ext cx="530352" cy="530352"/>
          </a:xfrm>
          <a:prstGeom prst="ellipse">
            <a:avLst/>
          </a:prstGeom>
          <a:solidFill>
            <a:srgbClr val="F08A5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35295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33832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colocar os óculos do outro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914400" y="402336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descrever um restaurante. 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dono fala de cardápio e preços. Mas o </a:t>
            </a: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sente o cheiro, ouve o barulho, repara na fila, fica ansioso com a espera e feliz quando é bem atendido.</a:t>
            </a:r>
            <a:endParaRPr lang="en-US" sz="1450" dirty="0"/>
          </a:p>
          <a:p>
            <a:pPr marL="0" indent="0">
              <a:lnSpc>
                <a:spcPct val="112000"/>
              </a:lnSpc>
              <a:buNone/>
            </a:pPr>
            <a:endParaRPr lang="en-US" sz="14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mapa de empatia nos obriga a sair da nossa cabeça e </a:t>
            </a:r>
            <a:endParaRPr lang="en-US" sz="14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F08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sentar na cadeira do cliente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766560" y="1554480"/>
            <a:ext cx="4846320" cy="4572000"/>
          </a:xfrm>
          <a:prstGeom prst="rect">
            <a:avLst/>
          </a:prstGeom>
          <a:solidFill>
            <a:srgbClr val="1A3A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8"/>
          <p:cNvSpPr/>
          <p:nvPr/>
        </p:nvSpPr>
        <p:spPr>
          <a:xfrm>
            <a:off x="9189720" y="1737360"/>
            <a:ext cx="0" cy="347472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9"/>
          <p:cNvSpPr/>
          <p:nvPr/>
        </p:nvSpPr>
        <p:spPr>
          <a:xfrm>
            <a:off x="6949440" y="3383280"/>
            <a:ext cx="448056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2108" y="1965960"/>
            <a:ext cx="512064" cy="5120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66560" y="2560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 &amp; SENTE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5268" y="1965960"/>
            <a:ext cx="512064" cy="51206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89720" y="2560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VÊ</a:t>
            </a:r>
            <a:endParaRPr lang="en-US" sz="12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2108" y="3794760"/>
            <a:ext cx="512064" cy="51206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766560" y="4389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</a:t>
            </a:r>
            <a:endParaRPr lang="en-US" sz="12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5268" y="3794760"/>
            <a:ext cx="512064" cy="51206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189720" y="4389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 &amp; FAZ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6766560" y="5394960"/>
            <a:ext cx="2423160" cy="731520"/>
          </a:xfrm>
          <a:prstGeom prst="rect">
            <a:avLst/>
          </a:prstGeom>
          <a:solidFill>
            <a:srgbClr val="F08A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15"/>
          <p:cNvSpPr/>
          <p:nvPr/>
        </p:nvSpPr>
        <p:spPr>
          <a:xfrm>
            <a:off x="9189720" y="5394960"/>
            <a:ext cx="2423160" cy="7315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16"/>
          <p:cNvSpPr/>
          <p:nvPr/>
        </p:nvSpPr>
        <p:spPr>
          <a:xfrm>
            <a:off x="6766560" y="53949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DORES</a:t>
            </a:r>
            <a:endParaRPr lang="en-US" sz="1300" dirty="0"/>
          </a:p>
        </p:txBody>
      </p:sp>
      <p:sp>
        <p:nvSpPr>
          <p:cNvPr id="25" name="Text 17"/>
          <p:cNvSpPr/>
          <p:nvPr/>
        </p:nvSpPr>
        <p:spPr>
          <a:xfrm>
            <a:off x="9189720" y="53949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4A"/>
                </a:solidFill>
              </a:rPr>
              <a:t>GANHOS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vale a pena?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94960" cy="21488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68680" y="196596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217627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198424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Humaniza os dados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965960" y="251460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planilhas de entrevista em uma pessoa de verdade, com nome e sentimentos.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09360" y="1600200"/>
            <a:ext cx="5394960" cy="21488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6629400" y="1965960"/>
            <a:ext cx="868680" cy="86868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712" y="217627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26680" y="198424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 o time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7726680" y="251460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passam a enxergar o mesmo usuário. Acaba o 'eu acho que o cliente quer...'.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4114800"/>
            <a:ext cx="5394960" cy="21488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868680" y="4480560"/>
            <a:ext cx="868680" cy="868680"/>
          </a:xfrm>
          <a:prstGeom prst="ellipse">
            <a:avLst/>
          </a:prstGeom>
          <a:solidFill>
            <a:srgbClr val="F08A5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" y="4690872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65960" y="449884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Revela o não-dito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1965960" y="502920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contradições: o que a pessoa fala nem sempre é o que ela realmente sente.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309360" y="4114800"/>
            <a:ext cx="5394960" cy="21488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4"/>
          <p:cNvSpPr/>
          <p:nvPr/>
        </p:nvSpPr>
        <p:spPr>
          <a:xfrm>
            <a:off x="6629400" y="4480560"/>
            <a:ext cx="868680" cy="8686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9712" y="4690872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726680" y="449884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requisitos melhores</a:t>
            </a:r>
            <a:endParaRPr lang="en-US" sz="1900" dirty="0"/>
          </a:p>
        </p:txBody>
      </p:sp>
      <p:sp>
        <p:nvSpPr>
          <p:cNvPr id="22" name="Text 16"/>
          <p:cNvSpPr/>
          <p:nvPr/>
        </p:nvSpPr>
        <p:spPr>
          <a:xfrm>
            <a:off x="7726680" y="502920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dor vira uma oportunidade de funcionalidade que importa de verdade.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6 áreas do mapa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593592" cy="233172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55448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1945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PENSA e SENTE?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68680" y="2651760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Preocupações, sonhos, o que tira o sono. O mundo interior dele.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306824" y="1234440"/>
            <a:ext cx="3593592" cy="2331720"/>
          </a:xfrm>
          <a:prstGeom prst="rect">
            <a:avLst/>
          </a:prstGeom>
          <a:solidFill>
            <a:srgbClr val="00A89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1554480"/>
            <a:ext cx="566928" cy="5669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26864" y="21945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VÊ?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626864" y="2651760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Ambiente, amigos, ofertas do mercado, o que aparece no dia a dia.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065008" y="1234440"/>
            <a:ext cx="3593592" cy="2331720"/>
          </a:xfrm>
          <a:prstGeom prst="rect">
            <a:avLst/>
          </a:prstGeom>
          <a:solidFill>
            <a:srgbClr val="3AA8A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1554480"/>
            <a:ext cx="566928" cy="5669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85048" y="21945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OUVE?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8385048" y="2651760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amigos, família e influenciadores dizem. O que o influencia.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3767328"/>
            <a:ext cx="3593592" cy="2331720"/>
          </a:xfrm>
          <a:prstGeom prst="rect">
            <a:avLst/>
          </a:prstGeom>
          <a:solidFill>
            <a:srgbClr val="4C9A8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087368"/>
            <a:ext cx="566928" cy="5669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68680" y="4727448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FALA e FAZ?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868680" y="5184648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Atitude em público, comportamento, o que declara para os outros.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306824" y="3767328"/>
            <a:ext cx="3593592" cy="2331720"/>
          </a:xfrm>
          <a:prstGeom prst="rect">
            <a:avLst/>
          </a:prstGeom>
          <a:solidFill>
            <a:srgbClr val="F08A5D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6864" y="4087368"/>
            <a:ext cx="566928" cy="56692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626864" y="4727448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DORES</a:t>
            </a:r>
            <a:endParaRPr lang="en-US" sz="1700" dirty="0"/>
          </a:p>
        </p:txBody>
      </p:sp>
      <p:sp>
        <p:nvSpPr>
          <p:cNvPr id="22" name="Text 15"/>
          <p:cNvSpPr/>
          <p:nvPr/>
        </p:nvSpPr>
        <p:spPr>
          <a:xfrm>
            <a:off x="4626864" y="5184648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Medos, frustrações, obstáculos e riscos que ele enfrenta.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8065008" y="3767328"/>
            <a:ext cx="3593592" cy="2331720"/>
          </a:xfrm>
          <a:prstGeom prst="rect">
            <a:avLst/>
          </a:prstGeom>
          <a:solidFill>
            <a:srgbClr val="02C39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5048" y="4087368"/>
            <a:ext cx="566928" cy="56692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385048" y="4727448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GANHOS</a:t>
            </a:r>
            <a:endParaRPr lang="en-US" sz="1700" dirty="0"/>
          </a:p>
        </p:txBody>
      </p:sp>
      <p:sp>
        <p:nvSpPr>
          <p:cNvPr id="26" name="Text 18"/>
          <p:cNvSpPr/>
          <p:nvPr/>
        </p:nvSpPr>
        <p:spPr>
          <a:xfrm>
            <a:off x="8385048" y="5184648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Desejos, necessidades, o que seria sucesso e satisfação para ele.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68680" cy="868680"/>
          </a:xfrm>
          <a:prstGeom prst="ellipse">
            <a:avLst/>
          </a:prstGeom>
          <a:solidFill>
            <a:srgbClr val="F08A5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6692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114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Exemplo preenchido: app FitPet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463040" y="1143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Persona: Marina, 29 anos, dona de um cão, trabalha o dia todo fora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394960" cy="16276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109728" cy="162763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822960" y="18928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 &amp; SENTE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2258568"/>
            <a:ext cx="4846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"Será que meu cão fica bem sozinho?"</a:t>
            </a:r>
            <a:endParaRPr lang="en-US" sz="115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Culpa por passar pouco tempo junto</a:t>
            </a:r>
            <a:endParaRPr lang="en-US" sz="115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 o melhor, mas tem medo de errar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09360" y="1783080"/>
            <a:ext cx="5394960" cy="16276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6309360" y="1783080"/>
            <a:ext cx="109728" cy="1627632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6583680" y="18928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VÊ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629400" y="2258568"/>
            <a:ext cx="4846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Vizinhos passeando com cães</a:t>
            </a:r>
            <a:endParaRPr lang="en-US" sz="115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 opções de petshop no mapa</a:t>
            </a:r>
            <a:endParaRPr lang="en-US" sz="115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Propaganda de ração premium cara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3639312"/>
            <a:ext cx="5394960" cy="16276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548640" y="3639312"/>
            <a:ext cx="109728" cy="1627632"/>
          </a:xfrm>
          <a:prstGeom prst="rect">
            <a:avLst/>
          </a:prstGeom>
          <a:solidFill>
            <a:srgbClr val="3AA8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822960" y="3749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68680" y="4114800"/>
            <a:ext cx="4846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Amiga: "esse veterinário é ótimo"</a:t>
            </a:r>
            <a:endParaRPr lang="en-US" sz="115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tutores no WhatsApp</a:t>
            </a:r>
            <a:endParaRPr lang="en-US" sz="115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Influenciadores pet no Instagram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309360" y="3639312"/>
            <a:ext cx="5394960" cy="16276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6309360" y="3639312"/>
            <a:ext cx="109728" cy="1627632"/>
          </a:xfrm>
          <a:prstGeom prst="rect">
            <a:avLst/>
          </a:prstGeom>
          <a:solidFill>
            <a:srgbClr val="4C9A8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6583680" y="3749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 &amp; FAZ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629400" y="4114800"/>
            <a:ext cx="4846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"Faço tudo pelo meu pet"</a:t>
            </a:r>
            <a:endParaRPr lang="en-US" sz="115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muito antes de decidir</a:t>
            </a:r>
            <a:endParaRPr lang="en-US" sz="115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 indicação para conhecidos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48640" y="5532120"/>
            <a:ext cx="5623560" cy="1051560"/>
          </a:xfrm>
          <a:prstGeom prst="rect">
            <a:avLst/>
          </a:prstGeom>
          <a:solidFill>
            <a:srgbClr val="F08A5D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777240" y="553212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DORES 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Medo de profissional ruim · perder tempo · não saber em quem confiar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537960" y="5532120"/>
            <a:ext cx="5074920" cy="1051560"/>
          </a:xfrm>
          <a:prstGeom prst="rect">
            <a:avLst/>
          </a:prstGeom>
          <a:solidFill>
            <a:srgbClr val="02C39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6766560" y="553212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GANHOS   </a:t>
            </a:r>
            <a:r>
              <a:rPr lang="en-US" sz="12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Indicação confiável · achar serviço perto · paz de espírito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vamos fazer (online, em grupo)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685800" cy="685800"/>
          </a:xfrm>
          <a:prstGeom prst="ellipse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508760" y="15087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Escolham a persona  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Usem a pessoa que vocês entrevistaram na atividade. Deem um nome e idade.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487168"/>
            <a:ext cx="685800" cy="685800"/>
          </a:xfrm>
          <a:prstGeom prst="ellipse">
            <a:avLst/>
          </a:prstGeom>
          <a:solidFill>
            <a:srgbClr val="00A89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080" y="24871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508760" y="244144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Abram o quadro  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FigJam ou template compartilhado. Cada um entra com seu login e edita junto.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419856"/>
            <a:ext cx="685800" cy="685800"/>
          </a:xfrm>
          <a:prstGeom prst="ellipse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" y="341985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508760" y="337413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Post-its em 5 min  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integrante joga ideias nas 6 áreas. Sem julgar — quantidade primeiro.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4352544"/>
            <a:ext cx="685800" cy="685800"/>
          </a:xfrm>
          <a:prstGeom prst="ellipse">
            <a:avLst/>
          </a:prstGeom>
          <a:solidFill>
            <a:srgbClr val="00A89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" y="435254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508760" y="4306824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Agrupem e discutam  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Juntem post-its parecidos. Onde há contradição entre FALA e SENTE?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0080" y="5285232"/>
            <a:ext cx="685800" cy="685800"/>
          </a:xfrm>
          <a:prstGeom prst="ellipse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" y="528523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08760" y="523951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Liguem aos requisitos  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DOR, perguntem: que funcionalidade resolveria isso?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Ferramentas para </a:t>
            </a:r>
            <a:r>
              <a:rPr lang="en-US" sz="3200" b="1" dirty="0" err="1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fazer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94960" cy="21031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10972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160520" y="1874520"/>
            <a:ext cx="1463040" cy="4114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160520" y="18745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FigJam (Figma)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51460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infinito com post-its. Ótimo para colaboração em tempo real.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5394960" cy="21031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309360" y="1554480"/>
            <a:ext cx="5394960" cy="10972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9921240" y="1874520"/>
            <a:ext cx="1463040" cy="4114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9921240" y="18745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1920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75120" y="251460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ao FigJam, tem templates prontos de mapa de empatia.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5394960" cy="21031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5394960" cy="109728"/>
          </a:xfrm>
          <a:prstGeom prst="rect">
            <a:avLst/>
          </a:prstGeom>
          <a:solidFill>
            <a:srgbClr val="3AA8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160520" y="4343400"/>
            <a:ext cx="1463040" cy="411480"/>
          </a:xfrm>
          <a:prstGeom prst="rect">
            <a:avLst/>
          </a:prstGeom>
          <a:solidFill>
            <a:srgbClr val="3AA8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160520" y="4343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4389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Slides / Jamboard alt.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14400" y="49834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slide com a grade; cada grupo edita o seu. Simples e acessível.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09360" y="4023360"/>
            <a:ext cx="5394960" cy="21031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6309360" y="4023360"/>
            <a:ext cx="5394960" cy="109728"/>
          </a:xfrm>
          <a:prstGeom prst="rect">
            <a:avLst/>
          </a:prstGeom>
          <a:solidFill>
            <a:srgbClr val="F08A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9921240" y="4343400"/>
            <a:ext cx="1463040" cy="411480"/>
          </a:xfrm>
          <a:prstGeom prst="rect">
            <a:avLst/>
          </a:prstGeom>
          <a:solidFill>
            <a:srgbClr val="F08A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9921240" y="4343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75120" y="4389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 (Whiteboard)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675120" y="49834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colaborativo com elementos prontos e visual caprichado.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Dicas e erros a evitar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94960" cy="45720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640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Baseie-se em dados reais da entrevista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 palavras do próprio usuário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Aceite contradições — elas são ouro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 em UMA persona por vez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Conecte cada dor a um requisito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394960" cy="640080"/>
          </a:xfrm>
          <a:prstGeom prst="rect">
            <a:avLst/>
          </a:prstGeom>
          <a:solidFill>
            <a:srgbClr val="F08A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217920" y="15544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42316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 dados do nada ("achismo")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Descrever o usuário ideal/fantasia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Misturar vários perfis no mesmo mapa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Parar nas dores sem virar requisito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como documento final e fixo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657600"/>
            <a:ext cx="5029200" cy="50292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601200" y="-1645920"/>
            <a:ext cx="4572000" cy="457200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0972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8745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Agora é com vocês!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22960" y="29260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do grupo:  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montem o Mapa de Empatia da persona que vocês entrevistaram.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22960" y="3977640"/>
            <a:ext cx="1042416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822960" y="3977640"/>
            <a:ext cx="128016" cy="1920240"/>
          </a:xfrm>
          <a:prstGeom prst="rect">
            <a:avLst/>
          </a:prstGeom>
          <a:solidFill>
            <a:srgbClr val="F08A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1234440" y="4206240"/>
            <a:ext cx="9692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Entreguem: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mapa preenchido (print ou link)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dores principais identificadas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dor, 1 requisito que ela gera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1315</Words>
  <Application>Microsoft Macintosh PowerPoint</Application>
  <PresentationFormat>Widescreen</PresentationFormat>
  <Paragraphs>135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Mapa de Empatia</dc:title>
  <dc:subject>PptxGenJS Presentation</dc:subject>
  <dc:creator>Prof. Lucas Ribeiro de Lacerda</dc:creator>
  <cp:lastModifiedBy>Lucas Ribeiro de Lacerda</cp:lastModifiedBy>
  <cp:revision>2</cp:revision>
  <dcterms:created xsi:type="dcterms:W3CDTF">2026-05-29T17:31:52Z</dcterms:created>
  <dcterms:modified xsi:type="dcterms:W3CDTF">2026-05-29T17:40:48Z</dcterms:modified>
</cp:coreProperties>
</file>